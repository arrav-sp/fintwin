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94360"/>
            <a:ext cx="10927080" cy="544068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E5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12233A"/>
                </a:solidFill>
                <a:latin typeface="Aptos"/>
              </a:rPr>
              <a:t>FINTWIN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2D69B4"/>
                </a:solidFill>
                <a:latin typeface="Aptos"/>
              </a:rPr>
              <a:t>DBMS Design &amp; Viva Diagram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327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626C77"/>
                </a:solidFill>
                <a:latin typeface="Aptos"/>
              </a:rPr>
              <a:t>ER Diagram  •  Relational Schema  •  Keys  • 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154680"/>
            <a:ext cx="4251960" cy="502920"/>
          </a:xfrm>
          <a:prstGeom prst="roundRect">
            <a:avLst/>
          </a:prstGeom>
          <a:solidFill>
            <a:srgbClr val="348F65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3218688"/>
            <a:ext cx="4251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DRAW • UNDERSTAND • DEFEND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94183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B34"/>
                </a:solidFill>
                <a:latin typeface="Aptos"/>
              </a:rPr>
              <a:t>Project-specific diagrams you can reproduce in a DBMS viva.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94183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26C77"/>
                </a:solidFill>
                <a:latin typeface="Aptos"/>
              </a:rPr>
              <a:t>Chen notation + PK/FK schema + 0NF → 1NF → 2NF → 3NF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What you need to draw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Do not mix these four artifacts.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60320" cy="196596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D69B4"/>
                </a:solidFill>
                <a:latin typeface="Aptos"/>
              </a:rPr>
              <a:t>1  ER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19456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Chen notation
Entities • attributes
Relationships • cardinality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60320" cy="196596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7056A1"/>
                </a:solidFill>
                <a:latin typeface="Aptos"/>
              </a:rPr>
              <a:t>2  RELATIONAL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31720"/>
            <a:ext cx="219456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Relations / tables
PK + FK markings
FK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560320" cy="19659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48F65"/>
                </a:solidFill>
                <a:latin typeface="Aptos"/>
              </a:rPr>
              <a:t>3  ALL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19456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PK • candidate key
super key • FK
integrity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08760"/>
            <a:ext cx="2560320" cy="196596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D38531"/>
                </a:solidFill>
                <a:latin typeface="Aptos"/>
              </a:rPr>
              <a:t>4 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31720"/>
            <a:ext cx="219456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0NF → 1NF → 2NF → 3NF
FDs • partial dependency
transitive dependency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10561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9B4"/>
                </a:solidFill>
                <a:latin typeface="Aptos"/>
              </a:rPr>
              <a:t>Golden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325112"/>
            <a:ext cx="8321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ER = conceptual model     |     Relational schema = tables +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800600"/>
            <a:ext cx="8321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26C77"/>
                </a:solidFill>
                <a:latin typeface="Aptos"/>
              </a:rPr>
              <a:t>Normalization explains why the information is separated.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1. ER Diagram — Chen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Rectangle = entity • diamond = relationship • oval = attribute • PK underlined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325880" cy="438912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32588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D69B4"/>
                </a:solidFill>
                <a:latin typeface="Aptos"/>
              </a:rPr>
              <a:t>BRANCH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83664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89280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branch_id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57984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16712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branch_name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32303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44144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branch_code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06623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1576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417320"/>
            <a:ext cx="1463040" cy="438912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417320"/>
            <a:ext cx="146304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48F65"/>
                </a:solidFill>
                <a:latin typeface="Aptos"/>
              </a:rPr>
              <a:t>EMPLOYEE</a:t>
            </a:r>
          </a:p>
        </p:txBody>
      </p:sp>
      <p:sp>
        <p:nvSpPr>
          <p:cNvPr id="18" name="Oval 17"/>
          <p:cNvSpPr/>
          <p:nvPr/>
        </p:nvSpPr>
        <p:spPr>
          <a:xfrm>
            <a:off x="9966959" y="188366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1892807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employee_id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215798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2167127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branch_id</a:t>
            </a:r>
          </a:p>
        </p:txBody>
      </p:sp>
      <p:sp>
        <p:nvSpPr>
          <p:cNvPr id="22" name="Oval 21"/>
          <p:cNvSpPr/>
          <p:nvPr/>
        </p:nvSpPr>
        <p:spPr>
          <a:xfrm>
            <a:off x="9966959" y="2432303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2441447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name</a:t>
            </a:r>
          </a:p>
        </p:txBody>
      </p:sp>
      <p:sp>
        <p:nvSpPr>
          <p:cNvPr id="24" name="Oval 23"/>
          <p:cNvSpPr/>
          <p:nvPr/>
        </p:nvSpPr>
        <p:spPr>
          <a:xfrm>
            <a:off x="9966959" y="2706623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715767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role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03320"/>
            <a:ext cx="1417320" cy="438912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141732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056A1"/>
                </a:solidFill>
                <a:latin typeface="Aptos"/>
              </a:rPr>
              <a:t>CUSTOMER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16966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17880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customer_id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44398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445312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branch_id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71830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72744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first_name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499262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500176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last_name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526694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527608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email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5541263"/>
            <a:ext cx="15087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5550407"/>
            <a:ext cx="13990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phone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3657600"/>
            <a:ext cx="1508760" cy="438912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3657600"/>
            <a:ext cx="150876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42" name="Oval 41"/>
          <p:cNvSpPr/>
          <p:nvPr/>
        </p:nvSpPr>
        <p:spPr>
          <a:xfrm>
            <a:off x="3520440" y="412394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75303" y="413308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account_id</a:t>
            </a:r>
          </a:p>
        </p:txBody>
      </p:sp>
      <p:sp>
        <p:nvSpPr>
          <p:cNvPr id="44" name="Oval 43"/>
          <p:cNvSpPr/>
          <p:nvPr/>
        </p:nvSpPr>
        <p:spPr>
          <a:xfrm>
            <a:off x="3520440" y="439826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75303" y="440740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account_number</a:t>
            </a:r>
          </a:p>
        </p:txBody>
      </p:sp>
      <p:sp>
        <p:nvSpPr>
          <p:cNvPr id="46" name="Oval 45"/>
          <p:cNvSpPr/>
          <p:nvPr/>
        </p:nvSpPr>
        <p:spPr>
          <a:xfrm>
            <a:off x="3520440" y="467258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75303" y="468172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customer_id</a:t>
            </a:r>
          </a:p>
        </p:txBody>
      </p:sp>
      <p:sp>
        <p:nvSpPr>
          <p:cNvPr id="48" name="Oval 47"/>
          <p:cNvSpPr/>
          <p:nvPr/>
        </p:nvSpPr>
        <p:spPr>
          <a:xfrm>
            <a:off x="3520440" y="494690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5303" y="495604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branch_id</a:t>
            </a:r>
          </a:p>
        </p:txBody>
      </p:sp>
      <p:sp>
        <p:nvSpPr>
          <p:cNvPr id="50" name="Oval 49"/>
          <p:cNvSpPr/>
          <p:nvPr/>
        </p:nvSpPr>
        <p:spPr>
          <a:xfrm>
            <a:off x="3520440" y="522122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75303" y="523036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account_type</a:t>
            </a:r>
          </a:p>
        </p:txBody>
      </p:sp>
      <p:sp>
        <p:nvSpPr>
          <p:cNvPr id="52" name="Oval 51"/>
          <p:cNvSpPr/>
          <p:nvPr/>
        </p:nvSpPr>
        <p:spPr>
          <a:xfrm>
            <a:off x="3520440" y="5495544"/>
            <a:ext cx="160020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75303" y="5504688"/>
            <a:ext cx="149047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balance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7960" y="3657600"/>
            <a:ext cx="1645920" cy="438912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657600"/>
            <a:ext cx="164592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56" name="Oval 55"/>
          <p:cNvSpPr/>
          <p:nvPr/>
        </p:nvSpPr>
        <p:spPr>
          <a:xfrm>
            <a:off x="6492240" y="412394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47104" y="413308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transaction_id</a:t>
            </a:r>
          </a:p>
        </p:txBody>
      </p:sp>
      <p:sp>
        <p:nvSpPr>
          <p:cNvPr id="58" name="Oval 57"/>
          <p:cNvSpPr/>
          <p:nvPr/>
        </p:nvSpPr>
        <p:spPr>
          <a:xfrm>
            <a:off x="6492240" y="439826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4" y="440740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from_account_id</a:t>
            </a:r>
          </a:p>
        </p:txBody>
      </p:sp>
      <p:sp>
        <p:nvSpPr>
          <p:cNvPr id="60" name="Oval 59"/>
          <p:cNvSpPr/>
          <p:nvPr/>
        </p:nvSpPr>
        <p:spPr>
          <a:xfrm>
            <a:off x="6492240" y="467258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4" y="468172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to_account_id</a:t>
            </a:r>
          </a:p>
        </p:txBody>
      </p:sp>
      <p:sp>
        <p:nvSpPr>
          <p:cNvPr id="62" name="Oval 61"/>
          <p:cNvSpPr/>
          <p:nvPr/>
        </p:nvSpPr>
        <p:spPr>
          <a:xfrm>
            <a:off x="6492240" y="494690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47104" y="495604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64" name="Oval 63"/>
          <p:cNvSpPr/>
          <p:nvPr/>
        </p:nvSpPr>
        <p:spPr>
          <a:xfrm>
            <a:off x="6492240" y="522122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47104" y="523036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transaction_type</a:t>
            </a:r>
          </a:p>
        </p:txBody>
      </p:sp>
      <p:sp>
        <p:nvSpPr>
          <p:cNvPr id="66" name="Oval 65"/>
          <p:cNvSpPr/>
          <p:nvPr/>
        </p:nvSpPr>
        <p:spPr>
          <a:xfrm>
            <a:off x="6492240" y="549554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5504688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transaction_time</a:t>
            </a:r>
          </a:p>
        </p:txBody>
      </p:sp>
      <p:sp>
        <p:nvSpPr>
          <p:cNvPr id="68" name="Oval 67"/>
          <p:cNvSpPr/>
          <p:nvPr/>
        </p:nvSpPr>
        <p:spPr>
          <a:xfrm>
            <a:off x="6492240" y="5769864"/>
            <a:ext cx="173736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47104" y="5779007"/>
            <a:ext cx="162763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29800" y="3657600"/>
            <a:ext cx="1463040" cy="438912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29800" y="3657600"/>
            <a:ext cx="146304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056A1"/>
                </a:solidFill>
                <a:latin typeface="Aptos"/>
              </a:rPr>
              <a:t>CARD</a:t>
            </a:r>
          </a:p>
        </p:txBody>
      </p:sp>
      <p:sp>
        <p:nvSpPr>
          <p:cNvPr id="72" name="Oval 71"/>
          <p:cNvSpPr/>
          <p:nvPr/>
        </p:nvSpPr>
        <p:spPr>
          <a:xfrm>
            <a:off x="9784080" y="412394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38944" y="413308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card_id</a:t>
            </a:r>
          </a:p>
        </p:txBody>
      </p:sp>
      <p:sp>
        <p:nvSpPr>
          <p:cNvPr id="74" name="Oval 73"/>
          <p:cNvSpPr/>
          <p:nvPr/>
        </p:nvSpPr>
        <p:spPr>
          <a:xfrm>
            <a:off x="9784080" y="439826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38944" y="440740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account_id</a:t>
            </a:r>
          </a:p>
        </p:txBody>
      </p:sp>
      <p:sp>
        <p:nvSpPr>
          <p:cNvPr id="76" name="Oval 75"/>
          <p:cNvSpPr/>
          <p:nvPr/>
        </p:nvSpPr>
        <p:spPr>
          <a:xfrm>
            <a:off x="9784080" y="467258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38944" y="468172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card_number</a:t>
            </a:r>
          </a:p>
        </p:txBody>
      </p:sp>
      <p:sp>
        <p:nvSpPr>
          <p:cNvPr id="78" name="Oval 77"/>
          <p:cNvSpPr/>
          <p:nvPr/>
        </p:nvSpPr>
        <p:spPr>
          <a:xfrm>
            <a:off x="9784080" y="494690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38944" y="495604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card_type</a:t>
            </a:r>
          </a:p>
        </p:txBody>
      </p:sp>
      <p:sp>
        <p:nvSpPr>
          <p:cNvPr id="80" name="Oval 79"/>
          <p:cNvSpPr/>
          <p:nvPr/>
        </p:nvSpPr>
        <p:spPr>
          <a:xfrm>
            <a:off x="9784080" y="522122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38944" y="523036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expiry_date</a:t>
            </a:r>
          </a:p>
        </p:txBody>
      </p:sp>
      <p:sp>
        <p:nvSpPr>
          <p:cNvPr id="82" name="Oval 81"/>
          <p:cNvSpPr/>
          <p:nvPr/>
        </p:nvSpPr>
        <p:spPr>
          <a:xfrm>
            <a:off x="9784080" y="5495544"/>
            <a:ext cx="155448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38944" y="5504688"/>
            <a:ext cx="144475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5486400"/>
            <a:ext cx="1325880" cy="393192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5486400"/>
            <a:ext cx="1325880" cy="3931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48F65"/>
                </a:solidFill>
                <a:latin typeface="Aptos"/>
              </a:rPr>
              <a:t>LOAN</a:t>
            </a:r>
          </a:p>
        </p:txBody>
      </p:sp>
      <p:sp>
        <p:nvSpPr>
          <p:cNvPr id="86" name="Oval 85"/>
          <p:cNvSpPr/>
          <p:nvPr/>
        </p:nvSpPr>
        <p:spPr>
          <a:xfrm>
            <a:off x="594359" y="5907024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" y="5916168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loan_id</a:t>
            </a:r>
          </a:p>
        </p:txBody>
      </p:sp>
      <p:sp>
        <p:nvSpPr>
          <p:cNvPr id="88" name="Oval 87"/>
          <p:cNvSpPr/>
          <p:nvPr/>
        </p:nvSpPr>
        <p:spPr>
          <a:xfrm>
            <a:off x="594359" y="6181344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9224" y="6190488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customer_id</a:t>
            </a:r>
          </a:p>
        </p:txBody>
      </p:sp>
      <p:sp>
        <p:nvSpPr>
          <p:cNvPr id="90" name="Oval 89"/>
          <p:cNvSpPr/>
          <p:nvPr/>
        </p:nvSpPr>
        <p:spPr>
          <a:xfrm>
            <a:off x="594359" y="6455664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9224" y="646480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loan_type</a:t>
            </a:r>
          </a:p>
        </p:txBody>
      </p:sp>
      <p:sp>
        <p:nvSpPr>
          <p:cNvPr id="92" name="Oval 91"/>
          <p:cNvSpPr/>
          <p:nvPr/>
        </p:nvSpPr>
        <p:spPr>
          <a:xfrm>
            <a:off x="594359" y="6729983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" y="673912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principal_amount</a:t>
            </a:r>
          </a:p>
        </p:txBody>
      </p:sp>
      <p:sp>
        <p:nvSpPr>
          <p:cNvPr id="94" name="Oval 93"/>
          <p:cNvSpPr/>
          <p:nvPr/>
        </p:nvSpPr>
        <p:spPr>
          <a:xfrm>
            <a:off x="594359" y="7004303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9224" y="701344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interest_rate</a:t>
            </a:r>
          </a:p>
        </p:txBody>
      </p:sp>
      <p:sp>
        <p:nvSpPr>
          <p:cNvPr id="96" name="Oval 95"/>
          <p:cNvSpPr/>
          <p:nvPr/>
        </p:nvSpPr>
        <p:spPr>
          <a:xfrm>
            <a:off x="594359" y="7278623"/>
            <a:ext cx="14173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9224" y="7287767"/>
            <a:ext cx="13075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91840" y="5486400"/>
            <a:ext cx="1554480" cy="393192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91840" y="5486400"/>
            <a:ext cx="1554480" cy="3931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D69B4"/>
                </a:solidFill>
                <a:latin typeface="Aptos"/>
              </a:rPr>
              <a:t>LOAN_PAYMENT</a:t>
            </a:r>
          </a:p>
        </p:txBody>
      </p:sp>
      <p:sp>
        <p:nvSpPr>
          <p:cNvPr id="100" name="Oval 99"/>
          <p:cNvSpPr/>
          <p:nvPr/>
        </p:nvSpPr>
        <p:spPr>
          <a:xfrm>
            <a:off x="3246120" y="590702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00984" y="5916168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payment_id</a:t>
            </a:r>
          </a:p>
        </p:txBody>
      </p:sp>
      <p:sp>
        <p:nvSpPr>
          <p:cNvPr id="102" name="Oval 101"/>
          <p:cNvSpPr/>
          <p:nvPr/>
        </p:nvSpPr>
        <p:spPr>
          <a:xfrm>
            <a:off x="3246120" y="618134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00984" y="6190488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loan_id</a:t>
            </a:r>
          </a:p>
        </p:txBody>
      </p:sp>
      <p:sp>
        <p:nvSpPr>
          <p:cNvPr id="104" name="Oval 103"/>
          <p:cNvSpPr/>
          <p:nvPr/>
        </p:nvSpPr>
        <p:spPr>
          <a:xfrm>
            <a:off x="3246120" y="645566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00984" y="6464807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payment_date</a:t>
            </a:r>
          </a:p>
        </p:txBody>
      </p:sp>
      <p:sp>
        <p:nvSpPr>
          <p:cNvPr id="106" name="Oval 105"/>
          <p:cNvSpPr/>
          <p:nvPr/>
        </p:nvSpPr>
        <p:spPr>
          <a:xfrm>
            <a:off x="3246120" y="6729983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00984" y="6739127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108" name="Oval 107"/>
          <p:cNvSpPr/>
          <p:nvPr/>
        </p:nvSpPr>
        <p:spPr>
          <a:xfrm>
            <a:off x="3246120" y="7004303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00984" y="7013447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payment_status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0" y="5486400"/>
            <a:ext cx="1828800" cy="393192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00800" y="5486400"/>
            <a:ext cx="1828800" cy="3931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38531"/>
                </a:solidFill>
                <a:latin typeface="Aptos"/>
              </a:rPr>
              <a:t>CARD_TRANSACTION</a:t>
            </a:r>
          </a:p>
        </p:txBody>
      </p:sp>
      <p:sp>
        <p:nvSpPr>
          <p:cNvPr id="112" name="Oval 111"/>
          <p:cNvSpPr/>
          <p:nvPr/>
        </p:nvSpPr>
        <p:spPr>
          <a:xfrm>
            <a:off x="6355080" y="5907024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9944" y="5916168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card_transaction_id</a:t>
            </a:r>
          </a:p>
        </p:txBody>
      </p:sp>
      <p:sp>
        <p:nvSpPr>
          <p:cNvPr id="114" name="Oval 113"/>
          <p:cNvSpPr/>
          <p:nvPr/>
        </p:nvSpPr>
        <p:spPr>
          <a:xfrm>
            <a:off x="6355080" y="6181344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9944" y="6190488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card_id</a:t>
            </a:r>
          </a:p>
        </p:txBody>
      </p:sp>
      <p:sp>
        <p:nvSpPr>
          <p:cNvPr id="116" name="Oval 115"/>
          <p:cNvSpPr/>
          <p:nvPr/>
        </p:nvSpPr>
        <p:spPr>
          <a:xfrm>
            <a:off x="6355080" y="6455664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9944" y="6464807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merchant_id</a:t>
            </a:r>
          </a:p>
        </p:txBody>
      </p:sp>
      <p:sp>
        <p:nvSpPr>
          <p:cNvPr id="118" name="Oval 117"/>
          <p:cNvSpPr/>
          <p:nvPr/>
        </p:nvSpPr>
        <p:spPr>
          <a:xfrm>
            <a:off x="6355080" y="6729983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09944" y="6739127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120" name="Oval 119"/>
          <p:cNvSpPr/>
          <p:nvPr/>
        </p:nvSpPr>
        <p:spPr>
          <a:xfrm>
            <a:off x="6355080" y="7004303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9944" y="7013447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transaction_time</a:t>
            </a:r>
          </a:p>
        </p:txBody>
      </p:sp>
      <p:sp>
        <p:nvSpPr>
          <p:cNvPr id="122" name="Oval 121"/>
          <p:cNvSpPr/>
          <p:nvPr/>
        </p:nvSpPr>
        <p:spPr>
          <a:xfrm>
            <a:off x="6355080" y="7278623"/>
            <a:ext cx="192024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9944" y="7287767"/>
            <a:ext cx="181051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646920" y="5486400"/>
            <a:ext cx="1554480" cy="393192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46920" y="5486400"/>
            <a:ext cx="1554480" cy="3931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48F65"/>
                </a:solidFill>
                <a:latin typeface="Aptos"/>
              </a:rPr>
              <a:t>MERCHANT</a:t>
            </a:r>
          </a:p>
        </p:txBody>
      </p:sp>
      <p:sp>
        <p:nvSpPr>
          <p:cNvPr id="126" name="Oval 125"/>
          <p:cNvSpPr/>
          <p:nvPr/>
        </p:nvSpPr>
        <p:spPr>
          <a:xfrm>
            <a:off x="9601200" y="590702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56064" y="5916168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1">
                <a:solidFill>
                  <a:srgbClr val="232B34"/>
                </a:solidFill>
                <a:latin typeface="Aptos"/>
              </a:rPr>
              <a:t>PK: merchant_id</a:t>
            </a:r>
          </a:p>
        </p:txBody>
      </p:sp>
      <p:sp>
        <p:nvSpPr>
          <p:cNvPr id="128" name="Oval 127"/>
          <p:cNvSpPr/>
          <p:nvPr/>
        </p:nvSpPr>
        <p:spPr>
          <a:xfrm>
            <a:off x="9601200" y="618134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56064" y="6190488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merchant_name</a:t>
            </a:r>
          </a:p>
        </p:txBody>
      </p:sp>
      <p:sp>
        <p:nvSpPr>
          <p:cNvPr id="130" name="Oval 129"/>
          <p:cNvSpPr/>
          <p:nvPr/>
        </p:nvSpPr>
        <p:spPr>
          <a:xfrm>
            <a:off x="9601200" y="6455664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656064" y="6464807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category</a:t>
            </a:r>
          </a:p>
        </p:txBody>
      </p:sp>
      <p:sp>
        <p:nvSpPr>
          <p:cNvPr id="132" name="Oval 131"/>
          <p:cNvSpPr/>
          <p:nvPr/>
        </p:nvSpPr>
        <p:spPr>
          <a:xfrm>
            <a:off x="9601200" y="6729983"/>
            <a:ext cx="1645920" cy="246888"/>
          </a:xfrm>
          <a:prstGeom prst="ellipse">
            <a:avLst/>
          </a:prstGeom>
          <a:solidFill>
            <a:srgbClr val="FFFFFF"/>
          </a:solidFill>
          <a:ln w="889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656064" y="6739127"/>
            <a:ext cx="1536192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30" b="0">
                <a:solidFill>
                  <a:srgbClr val="232B34"/>
                </a:solidFill>
                <a:latin typeface="Aptos"/>
              </a:rPr>
              <a:t>location</a:t>
            </a:r>
          </a:p>
        </p:txBody>
      </p:sp>
      <p:sp>
        <p:nvSpPr>
          <p:cNvPr id="134" name="Diamond 133"/>
          <p:cNvSpPr/>
          <p:nvPr/>
        </p:nvSpPr>
        <p:spPr>
          <a:xfrm>
            <a:off x="5257800" y="1554480"/>
            <a:ext cx="777240" cy="41148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285232" y="1627632"/>
            <a:ext cx="722376" cy="30175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HAS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828800" y="1636776"/>
            <a:ext cx="3429000" cy="128016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035040" y="1636776"/>
            <a:ext cx="3977640" cy="128016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2057400" y="137160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46920" y="137160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40" name="Diamond 139"/>
          <p:cNvSpPr/>
          <p:nvPr/>
        </p:nvSpPr>
        <p:spPr>
          <a:xfrm>
            <a:off x="2240280" y="2788920"/>
            <a:ext cx="914400" cy="45720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67712" y="2862072"/>
            <a:ext cx="859536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SERVES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188720" y="1874519"/>
            <a:ext cx="1463040" cy="914401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1188720" y="3246120"/>
            <a:ext cx="1463040" cy="45720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417320" y="269748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45920" y="333756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46" name="Diamond 145"/>
          <p:cNvSpPr/>
          <p:nvPr/>
        </p:nvSpPr>
        <p:spPr>
          <a:xfrm>
            <a:off x="2331720" y="3840480"/>
            <a:ext cx="822960" cy="438912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359151" y="3913632"/>
            <a:ext cx="768096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OWNS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920240" y="3913632"/>
            <a:ext cx="411480" cy="146304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154680" y="4059936"/>
            <a:ext cx="411480" cy="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874519" y="365760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00400" y="365760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52" name="Diamond 151"/>
          <p:cNvSpPr/>
          <p:nvPr/>
        </p:nvSpPr>
        <p:spPr>
          <a:xfrm>
            <a:off x="2286000" y="4800600"/>
            <a:ext cx="914400" cy="45720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13432" y="4873752"/>
            <a:ext cx="859536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TAKES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828800" y="4480560"/>
            <a:ext cx="914400" cy="32004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1280160" y="5257800"/>
            <a:ext cx="1463040" cy="22860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920240" y="452628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54480" y="525780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58" name="Diamond 157"/>
          <p:cNvSpPr/>
          <p:nvPr/>
        </p:nvSpPr>
        <p:spPr>
          <a:xfrm>
            <a:off x="5303520" y="4617720"/>
            <a:ext cx="777240" cy="41148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330952" y="4690872"/>
            <a:ext cx="722376" cy="30175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HAS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074920" y="4069080"/>
            <a:ext cx="594360" cy="54864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4846320" y="5029200"/>
            <a:ext cx="822960" cy="45720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983480" y="416052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00600" y="5230368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64" name="Diamond 163"/>
          <p:cNvSpPr/>
          <p:nvPr/>
        </p:nvSpPr>
        <p:spPr>
          <a:xfrm>
            <a:off x="8458200" y="3794760"/>
            <a:ext cx="777240" cy="41148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485632" y="3867912"/>
            <a:ext cx="722376" cy="30175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HAS</a:t>
            </a:r>
          </a:p>
        </p:txBody>
      </p:sp>
      <p:cxnSp>
        <p:nvCxnSpPr>
          <p:cNvPr id="166" name="Connector 165"/>
          <p:cNvCxnSpPr/>
          <p:nvPr/>
        </p:nvCxnSpPr>
        <p:spPr>
          <a:xfrm flipV="1">
            <a:off x="8183879" y="3794760"/>
            <a:ext cx="274321" cy="27432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235440" y="4005072"/>
            <a:ext cx="594360" cy="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9326880" y="361188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64040" y="416052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70" name="Diamond 169"/>
          <p:cNvSpPr/>
          <p:nvPr/>
        </p:nvSpPr>
        <p:spPr>
          <a:xfrm>
            <a:off x="8458200" y="4572000"/>
            <a:ext cx="1051560" cy="45720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485632" y="4645152"/>
            <a:ext cx="996695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GENERATES</a:t>
            </a:r>
          </a:p>
        </p:txBody>
      </p:sp>
      <p:cxnSp>
        <p:nvCxnSpPr>
          <p:cNvPr id="172" name="Connector 171"/>
          <p:cNvCxnSpPr/>
          <p:nvPr/>
        </p:nvCxnSpPr>
        <p:spPr>
          <a:xfrm flipH="1">
            <a:off x="9509760" y="4480560"/>
            <a:ext cx="960120" cy="9144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8229600" y="5029200"/>
            <a:ext cx="731520" cy="45720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9646920" y="4297680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229600" y="5230368"/>
            <a:ext cx="2286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26C77"/>
                </a:solidFill>
                <a:latin typeface="Aptos"/>
              </a:rPr>
              <a:t>N</a:t>
            </a:r>
          </a:p>
        </p:txBody>
      </p:sp>
      <p:sp>
        <p:nvSpPr>
          <p:cNvPr id="176" name="Diamond 175"/>
          <p:cNvSpPr/>
          <p:nvPr/>
        </p:nvSpPr>
        <p:spPr>
          <a:xfrm>
            <a:off x="9052560" y="5596128"/>
            <a:ext cx="548640" cy="365760"/>
          </a:xfrm>
          <a:prstGeom prst="diamond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079992" y="5669280"/>
            <a:ext cx="493776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69B4"/>
                </a:solidFill>
                <a:latin typeface="Aptos"/>
              </a:rPr>
              <a:t>AT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9098280" y="5486400"/>
            <a:ext cx="228600" cy="109728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601200" y="5779008"/>
            <a:ext cx="45720" cy="0"/>
          </a:xfrm>
          <a:prstGeom prst="line">
            <a:avLst/>
          </a:prstGeom>
          <a:ln w="16510">
            <a:solidFill>
              <a:srgbClr val="62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4892040" y="2606040"/>
            <a:ext cx="292608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010912" y="2761488"/>
            <a:ext cx="26974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F4646"/>
                </a:solidFill>
                <a:latin typeface="Aptos"/>
              </a:rPr>
              <a:t>ACCOUNT → TRANSACTION ← ACCOUNT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74920" y="3200400"/>
            <a:ext cx="25603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BF4646"/>
                </a:solidFill>
                <a:latin typeface="Aptos"/>
              </a:rPr>
              <a:t>from_account_id + to_account_id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ER Relationships &amp; Cardinalities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Use these explanations when the examiner points at a relationship.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6858000"/>
              </a:tblGrid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Relationship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Cardinality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BRANCH — EMPLOYEE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One branch has many employees.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BRANCH — CUSTOMER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branch serves many customers.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CUSTOMER —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customer can own multiple accounts.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 — TRANSACTION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An account can participate in many transactions.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 —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An account can have multiple cards.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CUSTOMER — LOAN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customer can have multiple loans.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LOAN — LOAN_PAYMENT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loan can have many payments.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CARD — CARD_TRANSACTION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card can generate many card transactions.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MERCHANT — CARD_TRANSACTION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 merchant can appear in many card transactions.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 — TRANSACTION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Recursive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Transaction uses source/from and destination/to account roles.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989320"/>
            <a:ext cx="10561320" cy="38404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44184"/>
            <a:ext cx="1028700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BF4646"/>
                </a:solidFill>
                <a:latin typeface="Aptos"/>
              </a:rPr>
              <a:t>VIVA: One TRANSACTION can reference ACCOUNT twice — from_account_id and to_account_id.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2.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Write every relation as TABLE(attributes), then mark PK, FK and UNIQUE.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965960" cy="429768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371600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26464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branch_id | branch_name | branch_code |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1965960" cy="429768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92807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EMPLOYEE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847088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901952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employee_id | FK branch_id → BRANCH(branch_id) | name |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22576"/>
            <a:ext cx="1965960" cy="429768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368296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322576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377440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customer_id | FK branch_id → BRANCH(branch_id) | first_name | last_name | email |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98064"/>
            <a:ext cx="1965960" cy="429768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843784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798064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2852928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account_id | UNIQUE account_number | FK customer_id → CUSTOMER | FK branch_id → BRANCH | account_type | 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273552"/>
            <a:ext cx="1965960" cy="429768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319272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273552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3328416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transaction_id | FK from_account_id → ACCOUNT | FK to_account_id → ACCOUNT | amount | transaction_type | transaction_time |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1965960" cy="429768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794759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3749039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3803903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card_id | FK account_id → ACCOUNT | UNIQUE card_number | card_type | expiry_date |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24527"/>
            <a:ext cx="1965960" cy="429768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270247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MERCHANT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4224527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4279391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merchant_id | merchant_name | category | location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700015"/>
            <a:ext cx="1965960" cy="429768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745735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CARD_TRANSACTION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4700015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4754879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card_transaction_id | FK card_id → CARD | FK merchant_id → MERCHANT | amount | transaction_time |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175503"/>
            <a:ext cx="1965960" cy="429768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221223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LOAN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80" y="5175503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5230367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loan_id | FK customer_id → CUSTOMER | loan_type | principal_amount | interest_rate |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650991"/>
            <a:ext cx="1965960" cy="429768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696711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LOAN_PAYMENT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5650991"/>
            <a:ext cx="88696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6352" y="5705855"/>
            <a:ext cx="864108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90" b="0">
                <a:solidFill>
                  <a:srgbClr val="232B34"/>
                </a:solidFill>
                <a:latin typeface="Aptos"/>
              </a:rPr>
              <a:t>PK payment_id | FK loan_id → LOAN | payment_date | amount | payment_status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Relational Schema Diagram — PK/FK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Traditional notation underlines PKs; this version labels them explicitly.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20240" cy="77724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branch_id
branch_name • branch_code •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1920240" cy="77724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employee_id
FK branch_id • name •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417320"/>
            <a:ext cx="1920240" cy="77724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customer_id
FK branch_id • name •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2011680" cy="96012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481328"/>
            <a:ext cx="19202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755648"/>
            <a:ext cx="1865376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account_id
FK customer_id • branch_id
UNIQUE account_number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417320"/>
            <a:ext cx="1920240" cy="109728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55648"/>
            <a:ext cx="1773936" cy="7040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transaction_id
FK from_account_id
FK to_account_id
amount •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3063240"/>
            <a:ext cx="2011680" cy="86868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127248"/>
            <a:ext cx="19202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3401568"/>
            <a:ext cx="1865376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card_id
FK account_id
UNIQUE card_number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3063240"/>
            <a:ext cx="1920240" cy="91440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12724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CARD_TRANSACTION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3401568"/>
            <a:ext cx="1773936" cy="5212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card_transaction_id
FK card_id • FK merchant_id
amount •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4617720"/>
            <a:ext cx="1920240" cy="77724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6817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MERCHANT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49560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merchant_id
merchant_name • category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108960"/>
            <a:ext cx="1920240" cy="86868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17296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LOAN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447288"/>
            <a:ext cx="1773936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loan_id
FK customer_id • loan_type
principal • interest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4617720"/>
            <a:ext cx="1920240" cy="77724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817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LOAN_PAYMENT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49560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payment_id
FK loan_id • date • amount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23160" y="1810512"/>
            <a:ext cx="365760" cy="0"/>
          </a:xfrm>
          <a:prstGeom prst="line">
            <a:avLst/>
          </a:prstGeom>
          <a:ln w="16510">
            <a:solidFill>
              <a:srgbClr val="2D69B4"/>
            </a:solidFill>
            <a:prstDash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Relational Schema Diagram — PK/FK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Traditional notation underlines PKs; this version labels them explicitly.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20240" cy="77724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branch_id
branch_name • branch_code •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1920240" cy="77724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employee_id
FK branch_id • name •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417320"/>
            <a:ext cx="1920240" cy="77724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7556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customer_id
FK branch_id • name •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2011680" cy="96012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481328"/>
            <a:ext cx="19202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755648"/>
            <a:ext cx="1865376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account_id
FK customer_id • branch_id
UNIQUE account_number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417320"/>
            <a:ext cx="1920240" cy="109728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813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55648"/>
            <a:ext cx="1773936" cy="7040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transaction_id
FK from_account_id
FK to_account_id
amount •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3063240"/>
            <a:ext cx="2011680" cy="86868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127248"/>
            <a:ext cx="19202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3401568"/>
            <a:ext cx="1865376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card_id
FK account_id
UNIQUE card_number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3063240"/>
            <a:ext cx="1920240" cy="91440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12724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CARD_TRANSACTION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3401568"/>
            <a:ext cx="1773936" cy="5212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card_transaction_id
FK card_id • FK merchant_id
amount •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4617720"/>
            <a:ext cx="1920240" cy="77724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6817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MERCHANT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49560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merchant_id
merchant_name • category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108960"/>
            <a:ext cx="1920240" cy="86868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17296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LOAN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447288"/>
            <a:ext cx="1773936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loan_id
FK customer_id • loan_type
principal • interest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4617720"/>
            <a:ext cx="1920240" cy="77724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68172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LOAN_PAYMENT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4956048"/>
            <a:ext cx="1773936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232B34"/>
                </a:solidFill>
                <a:latin typeface="Aptos"/>
              </a:rPr>
              <a:t>PK payment_id
FK loan_id • date • amount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23160" y="1810512"/>
            <a:ext cx="365760" cy="0"/>
          </a:xfrm>
          <a:prstGeom prst="line">
            <a:avLst/>
          </a:prstGeom>
          <a:ln w="2032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09160" y="1810512"/>
            <a:ext cx="365760" cy="0"/>
          </a:xfrm>
          <a:prstGeom prst="line">
            <a:avLst/>
          </a:prstGeom>
          <a:ln w="20320">
            <a:solidFill>
              <a:srgbClr val="348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95160" y="1810512"/>
            <a:ext cx="365760" cy="0"/>
          </a:xfrm>
          <a:prstGeom prst="line">
            <a:avLst/>
          </a:prstGeom>
          <a:ln w="20320">
            <a:solidFill>
              <a:srgbClr val="705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72600" y="1874519"/>
            <a:ext cx="365760" cy="0"/>
          </a:xfrm>
          <a:prstGeom prst="line">
            <a:avLst/>
          </a:prstGeom>
          <a:ln w="20320">
            <a:solidFill>
              <a:srgbClr val="D385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66760" y="2377440"/>
            <a:ext cx="0" cy="685800"/>
          </a:xfrm>
          <a:prstGeom prst="line">
            <a:avLst/>
          </a:prstGeom>
          <a:ln w="20320">
            <a:solidFill>
              <a:srgbClr val="705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372600" y="3520440"/>
            <a:ext cx="365760" cy="0"/>
          </a:xfrm>
          <a:prstGeom prst="line">
            <a:avLst/>
          </a:prstGeom>
          <a:ln w="20320">
            <a:solidFill>
              <a:srgbClr val="D385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698480" y="3977639"/>
            <a:ext cx="0" cy="640081"/>
          </a:xfrm>
          <a:prstGeom prst="line">
            <a:avLst/>
          </a:prstGeom>
          <a:ln w="20320">
            <a:solidFill>
              <a:srgbClr val="348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35040" y="2194560"/>
            <a:ext cx="0" cy="914400"/>
          </a:xfrm>
          <a:prstGeom prst="line">
            <a:avLst/>
          </a:prstGeom>
          <a:ln w="20320">
            <a:solidFill>
              <a:srgbClr val="348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35040" y="3977639"/>
            <a:ext cx="0" cy="640081"/>
          </a:xfrm>
          <a:prstGeom prst="line">
            <a:avLst/>
          </a:prstGeom>
          <a:ln w="2032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5806440"/>
            <a:ext cx="20116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9B4"/>
                </a:solidFill>
                <a:latin typeface="Aptos"/>
              </a:rPr>
              <a:t>FK → referenced PK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5806440"/>
            <a:ext cx="8046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2B34"/>
                </a:solidFill>
                <a:latin typeface="Aptos"/>
              </a:rPr>
              <a:t>Example: ACCOUNT.customer_id → CUSTOMER.customer_id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3. All Keys — Complete FinTwin Key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This is the table to memorize.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65960"/>
                <a:gridCol w="4709160"/>
                <a:gridCol w="265176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Foreign Key(s)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Other uniqueness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branch_id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branch_code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employee_id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branch_id → BRANCH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customer_id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branch_id →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email may be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account_id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customer_id → CUSTOMER; branch_id → BRANCH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account_number UNIQUE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transaction_id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from_account_id → ACCOUNT; to_account_id →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account_id → ACCOUNT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card_number UNIQUE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MERCHANT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merchant_id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CARD_TRANSACTION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card_transaction_id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card_id → CARD; merchant_id → MERCHANT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LOAN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loan_id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customer_id →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LOAN_PAYMENT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payment_id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loan_id → LOAN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Key Types — Viva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Short, accurate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560320" cy="228600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69B4"/>
                </a:solidFill>
                <a:latin typeface="Aptos"/>
              </a:rPr>
              <a:t>PRIMARY KEY (PK)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Uniquely identifies a tuple.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4320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Cannot be NULL.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4612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Chosen from candidate 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60320" cy="228600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7056A1"/>
                </a:solidFill>
                <a:latin typeface="Aptos"/>
              </a:rPr>
              <a:t>CANDIDATE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4028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Minimal set that uniquely identifies a tuple.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74320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A relation may have multiple.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24612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One is chosen as PK.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560320" cy="228600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645920"/>
            <a:ext cx="23774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48F65"/>
                </a:solidFill>
                <a:latin typeface="Aptos"/>
              </a:rPr>
              <a:t>SUPER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24028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Any attribute set that uniquely identifies a tuple.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4320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May contain extra attributes.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4612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Every candidate key is a super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17320"/>
            <a:ext cx="2560320" cy="228600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45920"/>
            <a:ext cx="23774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D38531"/>
                </a:solidFill>
                <a:latin typeface="Aptos"/>
              </a:rPr>
              <a:t>FOREIGN KEY (FK)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24028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References a key in another relation.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74320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Maintains referential integrity.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246120"/>
            <a:ext cx="22402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• NULL only if design permits.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60520"/>
            <a:ext cx="10332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407408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69B4"/>
                </a:solidFill>
                <a:latin typeface="Aptos"/>
              </a:rPr>
              <a:t>Example: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28032"/>
            <a:ext cx="96012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2B34"/>
                </a:solidFill>
                <a:latin typeface="Aptos"/>
              </a:rPr>
              <a:t>account_id = PK   |   account_number = UNIQUE   |   customer_id = FK → 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Constraints — Entity Integrity &amp; Referential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Classic DBMS viva territory.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25196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2D69B4"/>
                </a:solidFill>
                <a:latin typeface="Aptos"/>
              </a:rPr>
              <a:t>ENTITY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32B34"/>
                </a:solidFill>
                <a:latin typeface="Aptos"/>
              </a:rPr>
              <a:t>Primary key cannot be NULL.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0632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72968"/>
            <a:ext cx="1645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233A"/>
                </a:solidFill>
                <a:latin typeface="Aptos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72968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BF4646"/>
                </a:solidFill>
                <a:latin typeface="Aptos"/>
              </a:rPr>
              <a:t>customer_id = NULL  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03520" cy="42519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48F65"/>
                </a:solidFill>
                <a:latin typeface="Aptos"/>
              </a:rPr>
              <a:t>REFERENTIAL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7548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32B34"/>
                </a:solidFill>
                <a:latin typeface="Aptos"/>
              </a:rPr>
              <a:t>Every FK must reference an existing key.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06324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172968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8F65"/>
                </a:solidFill>
                <a:latin typeface="Aptos"/>
              </a:rPr>
              <a:t>CUSTOMER 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172968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BF4646"/>
                </a:solidFill>
                <a:latin typeface="Aptos"/>
              </a:rPr>
              <a:t>ACCOUNT.customer_id = 999 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4. Normalization — Full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Demonstrate with one deliberately redundant banking relation.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286000" cy="114300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BF4646"/>
                </a:solidFill>
                <a:latin typeface="Aptos"/>
              </a:rPr>
              <a:t>0NF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Mixed / repeated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01952"/>
            <a:ext cx="4114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286000" cy="114300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D69B4"/>
                </a:solidFill>
                <a:latin typeface="Aptos"/>
              </a:rPr>
              <a:t>1NF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Atomic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01952"/>
            <a:ext cx="4114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2286000" cy="114300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7056A1"/>
                </a:solidFill>
                <a:latin typeface="Aptos"/>
              </a:rPr>
              <a:t>2NF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1945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No partial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1901952"/>
            <a:ext cx="4114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554480"/>
            <a:ext cx="2286000" cy="114300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73736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348F65"/>
                </a:solidFill>
                <a:latin typeface="Aptos"/>
              </a:rPr>
              <a:t>3NF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1945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No transitive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337560"/>
            <a:ext cx="10332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611880"/>
            <a:ext cx="20116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D69B4"/>
                </a:solidFill>
                <a:latin typeface="Aptos"/>
              </a:rPr>
              <a:t>Normalization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14800"/>
            <a:ext cx="2926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4"/>
                </a:solidFill>
                <a:latin typeface="Aptos"/>
              </a:rPr>
              <a:t>Reduce redundancy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114800"/>
            <a:ext cx="5394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4"/>
                </a:solidFill>
                <a:latin typeface="Aptos"/>
              </a:rPr>
              <a:t>Prevent update / insertion / deletion anomalies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17720"/>
            <a:ext cx="3474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4"/>
                </a:solidFill>
                <a:latin typeface="Aptos"/>
              </a:rPr>
              <a:t>Preserve useful dependencies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617720"/>
            <a:ext cx="43891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4"/>
                </a:solidFill>
                <a:latin typeface="Aptos"/>
              </a:rPr>
              <a:t>Keep decomposition lossless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5532120"/>
            <a:ext cx="7772400" cy="438912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596128"/>
            <a:ext cx="77724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48F65"/>
                </a:solidFill>
                <a:latin typeface="Aptos"/>
              </a:rPr>
              <a:t>FinTwin's final banking design aims for approximately 3NF.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0NF → 1NF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First make attributes atomic.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150876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F4646"/>
                </a:solidFill>
                <a:latin typeface="Aptos"/>
              </a:rPr>
              <a:t>UNNORMALIZED BANK_TRANSACTION_RECORD (0NF)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30" b="0">
                <a:solidFill>
                  <a:srgbClr val="232B34"/>
                </a:solidFill>
                <a:latin typeface="Aptos"/>
              </a:rPr>
              <a:t>Transaction_ID | Customer_ID | Customer_Name | Account_ID | Account_Number | Account_Balance | Branch_ID | Branch_Name | Branch_Location | Amount | Transaction_Date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11201400" cy="205740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93008"/>
            <a:ext cx="9144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D69B4"/>
                </a:solidFill>
                <a:latin typeface="Aptos"/>
              </a:rPr>
              <a:t>1NF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49377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✓ Every cell contains one atomic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05072"/>
            <a:ext cx="51206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✓ No repeating groups / multivalued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520440"/>
            <a:ext cx="3474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F4646"/>
                </a:solidFill>
                <a:latin typeface="Aptos"/>
              </a:rPr>
              <a:t>phone = {9876, 8765} 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005072"/>
            <a:ext cx="3474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48F65"/>
                </a:solidFill>
                <a:latin typeface="Aptos"/>
              </a:rPr>
              <a:t>phone = 9876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26C77"/>
                </a:solidFill>
                <a:latin typeface="Aptos"/>
              </a:rPr>
              <a:t>Atomic values alone do not remove all redundancy.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1NF → 2NF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2NF removes partial dependency on part of a composite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Demonstration composite key: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36192"/>
            <a:ext cx="2743200" cy="420624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18488"/>
            <a:ext cx="274320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7056A1"/>
                </a:solidFill>
                <a:latin typeface="Aptos"/>
              </a:rPr>
              <a:t>(Transaction_ID, Account_ID)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4805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F4646"/>
                </a:solidFill>
                <a:latin typeface="Aptos"/>
              </a:rPr>
              <a:t>Account_ID → Account_Number, Account_Balance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10332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BF4646"/>
                </a:solidFill>
                <a:latin typeface="Aptos"/>
              </a:rPr>
              <a:t>Those attributes depend only on part of the composite key → PARTIAL DEPENDENCY.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5120640" cy="201168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572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57200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B34"/>
                </a:solidFill>
                <a:latin typeface="Aptos"/>
              </a:rPr>
              <a:t>account_id (PK)
account_number
account_balance
customer_id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71800"/>
            <a:ext cx="5120640" cy="201168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46120"/>
            <a:ext cx="4572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39"/>
            <a:ext cx="457200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B34"/>
                </a:solidFill>
                <a:latin typeface="Aptos"/>
              </a:rPr>
              <a:t>transaction_id (PK)
account_id (FK)
amount
transaction_date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48F65"/>
                </a:solidFill>
                <a:latin typeface="Aptos"/>
              </a:rPr>
              <a:t>2NF = 1NF + no partial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2NF → 3NF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3NF removes transitive dependency.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86868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232B34"/>
                </a:solidFill>
                <a:latin typeface="Aptos"/>
              </a:rPr>
              <a:t>TRANSACTION_ID → ACCOUNT_ID → BRANCH_ID → BRANCH_NAME, BRANCH_LOCATION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2057400" cy="91440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81528"/>
            <a:ext cx="196596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D69B4"/>
                </a:solidFill>
                <a:latin typeface="Aptos"/>
              </a:rPr>
              <a:t>TRANSACTION_ID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880360"/>
            <a:ext cx="2057400" cy="91440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081528"/>
            <a:ext cx="196596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38531"/>
                </a:solidFill>
                <a:latin typeface="Aptos"/>
              </a:rPr>
              <a:t>ACCOUNT_ID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80360"/>
            <a:ext cx="2057400" cy="91440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081528"/>
            <a:ext cx="196596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056A1"/>
                </a:solidFill>
                <a:latin typeface="Aptos"/>
              </a:rPr>
              <a:t>BRANCH_ID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880360"/>
            <a:ext cx="2057400" cy="91440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081528"/>
            <a:ext cx="196596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48F65"/>
                </a:solidFill>
                <a:latin typeface="Aptos"/>
              </a:rPr>
              <a:t>BRANCH_NAME
BRANCH_LOCATION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127248"/>
            <a:ext cx="3657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127248"/>
            <a:ext cx="3657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127248"/>
            <a:ext cx="3657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43400"/>
            <a:ext cx="3246120" cy="96012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306324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232B34"/>
                </a:solidFill>
                <a:latin typeface="Aptos"/>
              </a:rPr>
              <a:t>TRANSACTION
transaction_id • account_id • amount •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343400"/>
            <a:ext cx="2926080" cy="96012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27432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232B34"/>
                </a:solidFill>
                <a:latin typeface="Aptos"/>
              </a:rPr>
              <a:t>ACCOUNT
account_id • branch_id • 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343400"/>
            <a:ext cx="3474720" cy="96012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526280"/>
            <a:ext cx="329184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232B34"/>
                </a:solidFill>
                <a:latin typeface="Aptos"/>
              </a:rPr>
              <a:t>BRANCH
branch_id • branch_name •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48F65"/>
                </a:solidFill>
                <a:latin typeface="Aptos"/>
              </a:rPr>
              <a:t>3NF = 2NF + no transitive dependencies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Normalization Result — Final FinTwin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Separate information according to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57400" cy="1874519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4708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branch_id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9397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branch_name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40864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branch_code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87752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371600"/>
            <a:ext cx="2057400" cy="1874519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1463040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184708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customer_id 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209397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branch_id 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2340864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first_name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2587752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last_name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1" y="2834640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1" y="308152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1371600"/>
            <a:ext cx="2057400" cy="1874519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1463040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184708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account_id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209397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account_number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2340864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customer_id 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2587752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branch_id FK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2834640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account_type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308152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371600"/>
            <a:ext cx="2057400" cy="1874519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1463040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TRANSACTION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184708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transaction_id PK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09397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from_account_id FK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2340864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to_account_id 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2587752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2834640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transaction_time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308152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1371600"/>
            <a:ext cx="2057400" cy="1874519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463040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LOAN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184708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loan_id 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2952" y="209397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customer_id FK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2952" y="2340864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loan_type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2587752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principal_amount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2834640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interest_rate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308152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703320"/>
            <a:ext cx="2057400" cy="1874519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794759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D69B4"/>
                </a:solidFill>
                <a:latin typeface="Aptos"/>
              </a:rPr>
              <a:t>LOAN_PAYMENT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" y="417880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payment_id PK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442569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loan_id 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4672583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payment_date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919471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5166359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payment_status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34639" y="3703320"/>
            <a:ext cx="2057400" cy="1874519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59" y="3794759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7056A1"/>
                </a:solidFill>
                <a:latin typeface="Aptos"/>
              </a:rPr>
              <a:t>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1" y="417880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card_id PK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07791" y="442569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account_id 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1" y="4672583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card_number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07791" y="4919471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card_type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07791" y="5166359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expiry_date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07791" y="5413247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66359" y="3703320"/>
            <a:ext cx="2057400" cy="1874519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2079" y="3794759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38531"/>
                </a:solidFill>
                <a:latin typeface="Aptos"/>
              </a:rPr>
              <a:t>CARD_TRANSACTION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417880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card_transaction_id 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442569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card_id FK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39512" y="4672583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merchant_id FK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4919471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amount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5166359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transaction_time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5413247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status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79" y="3703320"/>
            <a:ext cx="2057400" cy="1874519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43800" y="3794759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MERCHANT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71231" y="417880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merchant_id PK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1231" y="442569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merchant_name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71231" y="4672583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category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71231" y="4919471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location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9800" y="3703320"/>
            <a:ext cx="2057400" cy="1874519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0" y="3794759"/>
            <a:ext cx="19659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48F65"/>
                </a:solidFill>
                <a:latin typeface="Aptos"/>
              </a:rPr>
              <a:t>EMPLOYEE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2952" y="4178808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32B34"/>
                </a:solidFill>
                <a:latin typeface="Aptos"/>
              </a:rPr>
              <a:t>employee_id PK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2952" y="4425696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branch_id 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2" y="4672583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name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4919471"/>
            <a:ext cx="1911095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232B34"/>
                </a:solidFill>
                <a:latin typeface="Aptos"/>
              </a:rPr>
              <a:t>role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058400" y="5852160"/>
            <a:ext cx="1280160" cy="3657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58400" y="5916168"/>
            <a:ext cx="12801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348F65"/>
                </a:solidFill>
                <a:latin typeface="Aptos"/>
              </a:rPr>
              <a:t>≈ 3NF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Why Normalize? — Three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A common viva follow-up.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383280" cy="214884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BF4646"/>
                </a:solidFill>
                <a:latin typeface="Aptos"/>
              </a:rPr>
              <a:t>UPDATE 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92608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Branch name repeated in many rows → many updates → inconsistent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383280" cy="214884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108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D38531"/>
                </a:solidFill>
                <a:latin typeface="Aptos"/>
              </a:rPr>
              <a:t>INSERTION 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292608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Cannot easily store a new branch if the design requires a transaction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383280" cy="214884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69B4"/>
                </a:solidFill>
                <a:latin typeface="Aptos"/>
              </a:rPr>
              <a:t>DELETION 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292608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Deleting the last transaction could accidentally remove the only branch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10332720" cy="118872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34840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8F65"/>
                </a:solidFill>
                <a:latin typeface="Aptos"/>
              </a:rPr>
              <a:t>VIVA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370832"/>
            <a:ext cx="80467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32B34"/>
                </a:solidFill>
                <a:latin typeface="Aptos"/>
              </a:rPr>
              <a:t>Normalization reduces redundancy and helps prevent update, insertion and deletion anomalies.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Functional Dependencies — Use These to Justify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X → Y means the value of X determines 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4964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Determinant X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Attributes determined by X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customer_id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first_name, last_name, email, phone, branch_id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account_number, customer_id, branch_id, account_type, balance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branch_id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branch_name, branch_code,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loan_id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customer_id, loan_type, principal_amount, interest_rate, status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transaction_id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from_account_id, to_account_id, amount, transaction_type, transaction_time,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card_id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account_id, card_number, card_type, expiry_date, status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merchant_id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merchant_name, category,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payment_id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loan_id, payment_date, amount, payment_status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Lossless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A good decomposition preserves the information needed to reconstruct the original relation.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108960" cy="251460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6517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BF4646"/>
                </a:solidFill>
                <a:latin typeface="Aptos"/>
              </a:rPr>
              <a:t>Original redundant 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651760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CUSTOMER + ACCOUNT + BRANCH
+ TRANSACTION facts mixed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31720"/>
            <a:ext cx="548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63040"/>
            <a:ext cx="2743200" cy="251460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83080"/>
            <a:ext cx="21945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69B4"/>
                </a:solidFill>
                <a:latin typeface="Aptos"/>
              </a:rPr>
              <a:t>Decompose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23160"/>
            <a:ext cx="219456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BRANCH
CUSTOMER
ACCOUNT
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31720"/>
            <a:ext cx="548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63040"/>
            <a:ext cx="2743200" cy="251460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783080"/>
            <a:ext cx="22860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48F65"/>
                </a:solidFill>
                <a:latin typeface="Aptos"/>
              </a:rPr>
              <a:t>JOIN ON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23160"/>
            <a:ext cx="2286000" cy="8229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B34"/>
                </a:solidFill>
                <a:latin typeface="Aptos"/>
              </a:rPr>
              <a:t>Recover meaningful information
without spurious tuples.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10332720" cy="91440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864608"/>
            <a:ext cx="98755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VIVA: Lossless decomposition means the decomposed relations can be joined to recover the original information without false/spurious tuples.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FINAL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Memorize this page before the viva.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023360"/>
              </a:tblGrid>
              <a:tr h="492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Concept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Quick cue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Entities + relationships + cardinality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Rectangle / diamond / 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RELATIONAL SCHEMA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Tables + constraints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PK + FK links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Unique tuple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Chosen candidate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FK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References another relation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Referential integrity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1NF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Atomic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No repeating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2NF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No partial dependency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Relevant to composite keys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3NF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No transitive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Separate determinants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LOSSLESS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No information lost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4"/>
                          </a:solidFill>
                          <a:latin typeface="Aptos"/>
                        </a:rPr>
                        <a:t>Join reconstructs meaning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897880"/>
            <a:ext cx="10332720" cy="4114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971032"/>
            <a:ext cx="10149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1NF → ATOMIC     |     2NF → NO PARTIAL     |     3NF → NO TRANSITIVE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Most Likely Viva Questions — Ready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Answer briefly first; expand only when asked.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39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726679"/>
              </a:tblGrid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ptos"/>
                        </a:rPr>
                        <a:t>Answer</a:t>
                      </a:r>
                    </a:p>
                  </a:txBody>
                  <a:tcPr>
                    <a:solidFill>
                      <a:srgbClr val="2D69B4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Why 3NF?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To reduce redundancy and update/insert/delete anomalies while preserving useful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Why account_id as PK?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It uniquely identifies an account and provides a stable internal reference.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Why customer_id as FK in ACCOUNT?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It links an account to its customer and enforces referential integrity.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Why two FKs in TRANSACTION?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A transfer has two roles: source/from account and destination/to account.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Candidate key?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A minimal superkey that uniquely identifies a tuple.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Super key?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Any attribute set that uniquely identifies a tuple; it may contain extra attributes.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Partial dependency?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A non-key attribute depends on only part of a composite key.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Transitive dependency?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A non-key attribute depends on another non-key attribute through the key.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Lossless decomposition?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Joining the decomposed relations recovers the original information without spurious tuples.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Why synthetic data?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32B34"/>
                          </a:solidFill>
                          <a:latin typeface="Aptos"/>
                        </a:rPr>
                        <a:t>Real banking data is sensitive; synthetic data allows safe realistic experiments.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FinTwin — The Whole DBMS Story in 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972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26C77"/>
                </a:solidFill>
                <a:latin typeface="Aptos"/>
              </a:rPr>
              <a:t>Use this when asked how the database design connects to the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11155680" cy="228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11680" cy="105156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D69B4"/>
                </a:solidFill>
                <a:latin typeface="Aptos"/>
              </a:rPr>
              <a:t>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Conceptual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1847088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508760"/>
            <a:ext cx="2011680" cy="105156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59" y="16459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7056A1"/>
                </a:solidFill>
                <a:latin typeface="Aptos"/>
              </a:rPr>
              <a:t>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59" y="2057400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Tables + PK/FK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847088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508760"/>
            <a:ext cx="2011680" cy="10515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16459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348F65"/>
                </a:solidFill>
                <a:latin typeface="Aptos"/>
              </a:rPr>
              <a:t>≈ 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Low redundancy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7" y="1847088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508760"/>
            <a:ext cx="2011680" cy="105156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6459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D38531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57400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Actual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1847088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508760"/>
            <a:ext cx="2011680" cy="105156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6459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D69B4"/>
                </a:solidFill>
                <a:latin typeface="Aptos"/>
              </a:rPr>
              <a:t>SQL / JOINS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57400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Banking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79"/>
            <a:ext cx="2011680" cy="1051560"/>
          </a:xfrm>
          <a:prstGeom prst="roundRect">
            <a:avLst/>
          </a:prstGeom>
          <a:solidFill>
            <a:srgbClr val="EEE9F9"/>
          </a:solidFill>
          <a:ln w="12700">
            <a:solidFill>
              <a:srgbClr val="705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7056A1"/>
                </a:solidFill>
                <a:latin typeface="Aptos"/>
              </a:rPr>
              <a:t>CONCURRENCY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Many users / 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4178807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39" y="3840479"/>
            <a:ext cx="2011680" cy="10515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59" y="397763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348F65"/>
                </a:solidFill>
                <a:latin typeface="Aptos"/>
              </a:rPr>
              <a:t>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59" y="43891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Latency • TPS • CPU • 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178807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59" y="3840479"/>
            <a:ext cx="2011680" cy="1051560"/>
          </a:xfrm>
          <a:prstGeom prst="roundRect">
            <a:avLst/>
          </a:prstGeom>
          <a:solidFill>
            <a:srgbClr val="FAEFDE"/>
          </a:solidFill>
          <a:ln w="12700">
            <a:solidFill>
              <a:srgbClr val="D3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9" y="397763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D38531"/>
                </a:solidFill>
                <a:latin typeface="Aptos"/>
              </a:rPr>
              <a:t>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9" y="43891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Predict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7" y="4178807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3840479"/>
            <a:ext cx="2011680" cy="1051560"/>
          </a:xfrm>
          <a:prstGeom prst="roundRect">
            <a:avLst/>
          </a:prstGeom>
          <a:solidFill>
            <a:srgbClr val="E5F1FC"/>
          </a:solidFill>
          <a:ln w="1270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97763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D69B4"/>
                </a:solidFill>
                <a:latin typeface="Aptos"/>
              </a:rPr>
              <a:t>WHAT-IF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3891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Compare workloads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4178807"/>
            <a:ext cx="274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26C77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29800" y="3840479"/>
            <a:ext cx="2011680" cy="1051560"/>
          </a:xfrm>
          <a:prstGeom prst="roundRect">
            <a:avLst/>
          </a:prstGeom>
          <a:solidFill>
            <a:srgbClr val="E4F4EB"/>
          </a:solidFill>
          <a:ln w="12700">
            <a:solidFill>
              <a:srgbClr val="34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397763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348F65"/>
                </a:solidFill>
                <a:latin typeface="Aptos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389119"/>
            <a:ext cx="19202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Predicted vs actual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263640"/>
            <a:ext cx="27432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DBMS FOUNDATION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6263640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2233A"/>
                </a:solidFill>
                <a:latin typeface="Aptos"/>
              </a:rPr>
              <a:t>→ PERFORMANCE ENGINEERING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6263640"/>
            <a:ext cx="3200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50" b="0">
                <a:solidFill>
                  <a:srgbClr val="626C77"/>
                </a:solidFill>
                <a:latin typeface="Aptos"/>
              </a:rPr>
              <a:t>AI prediction is built on real PostgreSQL measurements.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547104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6C77"/>
                </a:solidFill>
                <a:latin typeface="Aptos"/>
              </a:rPr>
              <a:t>FinTwin • DBMS Design &amp; Viva Pack •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