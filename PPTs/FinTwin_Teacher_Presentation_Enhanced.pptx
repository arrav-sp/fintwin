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73152" cy="5394960"/>
          </a:xfrm>
          <a:prstGeom prst="rect">
            <a:avLst/>
          </a:prstGeom>
          <a:solidFill>
            <a:srgbClr val="289A91"/>
          </a:solidFill>
          <a:ln w="10160">
            <a:solidFill>
              <a:srgbClr val="289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749808"/>
            <a:ext cx="2743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5BBEB1"/>
                </a:solidFill>
                <a:latin typeface="Aptos"/>
              </a:rPr>
              <a:t>FINTWIN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234440"/>
            <a:ext cx="987552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F7F9FA"/>
                </a:solidFill>
                <a:latin typeface="Aptos"/>
              </a:rPr>
              <a:t>AI-Powered Banking
Database Performance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816352"/>
            <a:ext cx="89611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9DADB8"/>
                </a:solidFill>
                <a:latin typeface="Aptos"/>
              </a:rPr>
              <a:t>Predictive workload modeling and intelligent performance optimization for financial database systems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" y="3886200"/>
            <a:ext cx="10149840" cy="141732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4160520"/>
            <a:ext cx="1371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BEB1"/>
                </a:solidFill>
                <a:latin typeface="Aptos"/>
              </a:rP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4462272"/>
            <a:ext cx="93268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F7F9FA"/>
                </a:solidFill>
                <a:latin typeface="Aptos"/>
              </a:rPr>
              <a:t>Learn the relationship between workload and PostgreSQL performance from real executions — then predict new workload behaviour before running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5897880"/>
            <a:ext cx="4572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9DADB8"/>
                </a:solidFill>
                <a:latin typeface="Aptos"/>
              </a:rPr>
              <a:t>Project Review / Faculty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5897880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0">
                <a:solidFill>
                  <a:srgbClr val="9DADB8"/>
                </a:solidFill>
                <a:latin typeface="Aptos"/>
              </a:rPr>
              <a:t>B.Tech CSE  •  VIT Vellore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BEB1"/>
                </a:solidFill>
                <a:latin typeface="Aptos"/>
              </a:rPr>
              <a:t>01  | 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7F9FA"/>
                </a:solidFill>
                <a:latin typeface="Aptos"/>
              </a:rPr>
              <a:t>The problem we are 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44168"/>
            <a:ext cx="105156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DADB8"/>
                </a:solidFill>
                <a:latin typeface="Aptos"/>
              </a:rPr>
              <a:t>Database performance changes with workload. Testing every possible workload directly is expensive.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9DADB8"/>
                </a:solidFill>
                <a:latin typeface="Apto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374C5B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9DADB8"/>
                </a:solidFill>
                <a:latin typeface="Aptos"/>
              </a:rPr>
              <a:t>FinTwin  |  AI-Powered Banking Database Performance Simulator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11680"/>
            <a:ext cx="5349240" cy="361188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04288"/>
            <a:ext cx="4480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BEB1"/>
                </a:solidFill>
                <a:latin typeface="Aptos"/>
              </a:rPr>
              <a:t>BANKING WORKLOAD IS NOT STATIC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4480560" cy="22402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0E7EB"/>
                </a:solidFill>
                <a:latin typeface="Aptos"/>
              </a:defRPr>
            </a:pPr>
            <a:r>
              <a:t>•  Normal transaction flow during ordinary periods</a:t>
            </a:r>
          </a:p>
          <a:p>
            <a:pPr>
              <a:spcAft>
                <a:spcPts val="700"/>
              </a:spcAft>
              <a:defRPr sz="1500">
                <a:solidFill>
                  <a:srgbClr val="E0E7EB"/>
                </a:solidFill>
                <a:latin typeface="Aptos"/>
              </a:defRPr>
            </a:pPr>
            <a:r>
              <a:t>•  Salary-day bursts with high account activity</a:t>
            </a:r>
          </a:p>
          <a:p>
            <a:pPr>
              <a:spcAft>
                <a:spcPts val="700"/>
              </a:spcAft>
              <a:defRPr sz="1500">
                <a:solidFill>
                  <a:srgbClr val="E0E7EB"/>
                </a:solidFill>
                <a:latin typeface="Aptos"/>
              </a:defRPr>
            </a:pPr>
            <a:r>
              <a:t>•  Month-end loan and payment processing</a:t>
            </a:r>
          </a:p>
          <a:p>
            <a:pPr>
              <a:spcAft>
                <a:spcPts val="700"/>
              </a:spcAft>
              <a:defRPr sz="1500">
                <a:solidFill>
                  <a:srgbClr val="E0E7EB"/>
                </a:solidFill>
                <a:latin typeface="Aptos"/>
              </a:defRPr>
            </a:pPr>
            <a:r>
              <a:t>•  Sudden card / merchant transaction spikes</a:t>
            </a:r>
          </a:p>
          <a:p>
            <a:pPr>
              <a:spcAft>
                <a:spcPts val="700"/>
              </a:spcAft>
              <a:defRPr sz="1500">
                <a:solidFill>
                  <a:srgbClr val="E0E7EB"/>
                </a:solidFill>
                <a:latin typeface="Aptos"/>
              </a:defRPr>
            </a:pPr>
            <a:r>
              <a:t>•  Higher concurrency can create contention and latency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011680"/>
            <a:ext cx="5440680" cy="361188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304288"/>
            <a:ext cx="4114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DDAB4F"/>
                </a:solidFill>
                <a:latin typeface="Aptos"/>
              </a:rPr>
              <a:t>TRADITIONAL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788920"/>
            <a:ext cx="45262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F7F9FA"/>
                </a:solidFill>
                <a:latin typeface="Aptos"/>
              </a:rPr>
              <a:t>Execute the workload → measure PostgreSQL → repeat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657600"/>
            <a:ext cx="21945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9DADB8"/>
                </a:solidFill>
                <a:latin typeface="Aptos"/>
              </a:rPr>
              <a:t>The design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005072"/>
            <a:ext cx="448056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5BBEB1"/>
                </a:solidFill>
                <a:latin typeface="Aptos"/>
              </a:rPr>
              <a:t>Can we predict database behaviour for a hypothetical workload without executing that workload first?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BEB1"/>
                </a:solidFill>
                <a:latin typeface="Aptos"/>
              </a:rPr>
              <a:t>02  | 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7F9FA"/>
                </a:solidFill>
                <a:latin typeface="Aptos"/>
              </a:rPr>
              <a:t>What FinTwin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44168"/>
            <a:ext cx="105156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DADB8"/>
                </a:solidFill>
                <a:latin typeface="Aptos"/>
              </a:rPr>
              <a:t>FinTwin builds a data-driven performance model around a real PostgreSQL banking workload.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9DADB8"/>
                </a:solidFill>
                <a:latin typeface="Apto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374C5B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9DADB8"/>
                </a:solidFill>
                <a:latin typeface="Aptos"/>
              </a:rPr>
              <a:t>FinTwin  |  AI-Powered Banking Database Performance Simulator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57400"/>
            <a:ext cx="1691640" cy="306324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304288"/>
            <a:ext cx="502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BBEB1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788920"/>
            <a:ext cx="1325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7F9FA"/>
                </a:solidFill>
                <a:latin typeface="Aptos"/>
              </a:rPr>
              <a:t>Generate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246120"/>
            <a:ext cx="132588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DADB8"/>
                </a:solidFill>
                <a:latin typeface="Aptos"/>
              </a:rPr>
              <a:t>Banking workloads
with controlled parameters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3432" y="3182112"/>
            <a:ext cx="182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5BBEB1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2057400"/>
            <a:ext cx="1691640" cy="306324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9192" y="2304288"/>
            <a:ext cx="502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BBEB1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192" y="2788920"/>
            <a:ext cx="1325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7F9FA"/>
                </a:solidFill>
                <a:latin typeface="Aptos"/>
              </a:rPr>
              <a:t>Execute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9192" y="3246120"/>
            <a:ext cx="132588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DADB8"/>
                </a:solidFill>
                <a:latin typeface="Aptos"/>
              </a:rPr>
              <a:t>Run against PostgreSQL
under concurrency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3672" y="3182112"/>
            <a:ext cx="182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5BBEB1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2057400"/>
            <a:ext cx="1691640" cy="306324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2" y="2304288"/>
            <a:ext cx="502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BBEB1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2788920"/>
            <a:ext cx="1325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7F9FA"/>
                </a:solidFill>
                <a:latin typeface="Aptos"/>
              </a:rPr>
              <a:t>Observe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3246120"/>
            <a:ext cx="132588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DADB8"/>
                </a:solidFill>
                <a:latin typeface="Aptos"/>
              </a:rPr>
              <a:t>Collect latency, TPS,
CPU, locks &amp; DB telemetry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3912" y="3182112"/>
            <a:ext cx="182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5BBEB1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2057400"/>
            <a:ext cx="1691640" cy="306324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2304288"/>
            <a:ext cx="502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BBEB1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2788920"/>
            <a:ext cx="1325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7F9FA"/>
                </a:solidFill>
                <a:latin typeface="Aptos"/>
              </a:rPr>
              <a:t>Learn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3246120"/>
            <a:ext cx="132588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DADB8"/>
                </a:solidFill>
                <a:latin typeface="Aptos"/>
              </a:rPr>
              <a:t>Train regression models
on measured experiments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74152" y="3182112"/>
            <a:ext cx="182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5BBEB1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2057400"/>
            <a:ext cx="1691640" cy="306324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9912" y="2304288"/>
            <a:ext cx="502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BBEB1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9912" y="2788920"/>
            <a:ext cx="1325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7F9FA"/>
                </a:solidFill>
                <a:latin typeface="Aptos"/>
              </a:rPr>
              <a:t>Predict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9912" y="3246120"/>
            <a:ext cx="132588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DADB8"/>
                </a:solidFill>
                <a:latin typeface="Aptos"/>
              </a:rPr>
              <a:t>Estimate performance
for unseen workloads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94392" y="3182112"/>
            <a:ext cx="182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5BBEB1"/>
                </a:solidFill>
                <a:latin typeface="Aptos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95560" y="2057400"/>
            <a:ext cx="1691640" cy="306324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60152" y="2304288"/>
            <a:ext cx="502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BBEB1"/>
                </a:solidFill>
                <a:latin typeface="Aptos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60152" y="2788920"/>
            <a:ext cx="1325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7F9FA"/>
                </a:solidFill>
                <a:latin typeface="Aptos"/>
              </a:rPr>
              <a:t>Optimize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60152" y="3246120"/>
            <a:ext cx="132588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DADB8"/>
                </a:solidFill>
                <a:latin typeface="Aptos"/>
              </a:rPr>
              <a:t>Compare scenarios and
surface evidence-based 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BEB1"/>
                </a:solidFill>
                <a:latin typeface="Aptos"/>
              </a:rPr>
              <a:t>03  | 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7F9FA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44168"/>
            <a:ext cx="105156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DADB8"/>
                </a:solidFill>
                <a:latin typeface="Aptos"/>
              </a:rPr>
              <a:t>Clear separation between workload generation, database execution, telemetry, ML and the user interface.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9DADB8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374C5B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9DADB8"/>
                </a:solidFill>
                <a:latin typeface="Aptos"/>
              </a:rPr>
              <a:t>FinTwin  |  AI-Powered Banking Database Performance Simulator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860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5B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514600"/>
            <a:ext cx="1271016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7F9FA"/>
                </a:solidFill>
                <a:latin typeface="Aptos"/>
              </a:rPr>
              <a:t>User / Admin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22860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289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04872" y="2514600"/>
            <a:ext cx="1271016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7F9FA"/>
                </a:solidFill>
                <a:latin typeface="Aptos"/>
              </a:rPr>
              <a:t>React
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22860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289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50791" y="2514600"/>
            <a:ext cx="1271016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7F9FA"/>
                </a:solidFill>
                <a:latin typeface="Aptos"/>
              </a:rPr>
              <a:t>FastAPI
Backend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22860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DDA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96712" y="2514600"/>
            <a:ext cx="1271016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7F9FA"/>
                </a:solidFill>
                <a:latin typeface="Aptos"/>
              </a:rPr>
              <a:t>Workload
Engine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28600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5B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88352" y="2514600"/>
            <a:ext cx="1453896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7F9FA"/>
                </a:solidFill>
                <a:latin typeface="Aptos"/>
              </a:rPr>
              <a:t>PostgreSQL
Banking 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28600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289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17152" y="2514600"/>
            <a:ext cx="1453896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7F9FA"/>
                </a:solidFill>
                <a:latin typeface="Aptos"/>
              </a:rPr>
              <a:t>Telemetry /
Experiments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39" y="2578608"/>
            <a:ext cx="2560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9DADB8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59" y="2578608"/>
            <a:ext cx="2560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9DADB8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79" y="2578608"/>
            <a:ext cx="2560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9DADB8"/>
                </a:solidFill>
                <a:latin typeface="Apto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578608"/>
            <a:ext cx="2560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9DADB8"/>
                </a:solidFill>
                <a:latin typeface="Aptos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578608"/>
            <a:ext cx="2560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9DADB8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0" y="3886200"/>
            <a:ext cx="1828800" cy="96012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5BBE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4096512"/>
            <a:ext cx="1645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7F9FA"/>
                </a:solidFill>
                <a:latin typeface="Aptos"/>
              </a:rPr>
              <a:t>ML Prediction
Engine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95160" y="3886200"/>
            <a:ext cx="1828800" cy="96012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5BBE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0" y="4096512"/>
            <a:ext cx="1645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7F9FA"/>
                </a:solidFill>
                <a:latin typeface="Aptos"/>
              </a:rPr>
              <a:t>What-If +
Optimization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5074920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9DADB8"/>
                </a:solidFill>
                <a:latin typeface="Aptos"/>
              </a:rPr>
              <a:t>historical experiments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074920"/>
            <a:ext cx="10972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9DADB8"/>
                </a:solidFill>
                <a:latin typeface="Aptos"/>
              </a:rPr>
              <a:t>predictions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BEB1"/>
                </a:solidFill>
                <a:latin typeface="Aptos"/>
              </a:rPr>
              <a:t>04  |  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7F9FA"/>
                </a:solidFill>
                <a:latin typeface="Aptos"/>
              </a:rPr>
              <a:t>Banking database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44168"/>
            <a:ext cx="105156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DADB8"/>
                </a:solidFill>
                <a:latin typeface="Aptos"/>
              </a:rPr>
              <a:t>Designed to support realistic transactional workloads while remaining small enough for controlled experiments.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9DADB8"/>
                </a:solidFill>
                <a:latin typeface="Aptos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374C5B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9DADB8"/>
                </a:solidFill>
                <a:latin typeface="Aptos"/>
              </a:rPr>
              <a:t>FinTwin  |  AI-Powered Banking Database Performance Simulator</a:t>
            </a:r>
          </a:p>
        </p:txBody>
      </p:sp>
      <p:pic>
        <p:nvPicPr>
          <p:cNvPr id="8" name="Picture 7" descr="a_clean_infographic_diagram_image_no_humans_on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74519"/>
            <a:ext cx="6400800" cy="4251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60920" y="1965960"/>
            <a:ext cx="4160520" cy="406908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2267712"/>
            <a:ext cx="2743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BBEB1"/>
                </a:solidFill>
                <a:latin typeface="Aptos"/>
              </a:rPr>
              <a:t>CORE ENTITIES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670048"/>
            <a:ext cx="3520440" cy="2880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0E7EB"/>
                </a:solidFill>
                <a:latin typeface="Aptos"/>
              </a:defRPr>
            </a:pPr>
            <a:r>
              <a:t>•  BRANCH — banking location / workload scope</a:t>
            </a:r>
          </a:p>
          <a:p>
            <a:pPr>
              <a:spcAft>
                <a:spcPts val="700"/>
              </a:spcAft>
              <a:defRPr sz="1200">
                <a:solidFill>
                  <a:srgbClr val="E0E7EB"/>
                </a:solidFill>
                <a:latin typeface="Aptos"/>
              </a:defRPr>
            </a:pPr>
            <a:r>
              <a:t>•  CUSTOMER — customer master data</a:t>
            </a:r>
          </a:p>
          <a:p>
            <a:pPr>
              <a:spcAft>
                <a:spcPts val="700"/>
              </a:spcAft>
              <a:defRPr sz="1200">
                <a:solidFill>
                  <a:srgbClr val="E0E7EB"/>
                </a:solidFill>
                <a:latin typeface="Aptos"/>
              </a:defRPr>
            </a:pPr>
            <a:r>
              <a:t>•  ACCOUNT — central financial entity</a:t>
            </a:r>
          </a:p>
          <a:p>
            <a:pPr>
              <a:spcAft>
                <a:spcPts val="700"/>
              </a:spcAft>
              <a:defRPr sz="1200">
                <a:solidFill>
                  <a:srgbClr val="E0E7EB"/>
                </a:solidFill>
                <a:latin typeface="Aptos"/>
              </a:defRPr>
            </a:pPr>
            <a:r>
              <a:t>•  TRANSACTION — transfer / account activity</a:t>
            </a:r>
          </a:p>
          <a:p>
            <a:pPr>
              <a:spcAft>
                <a:spcPts val="700"/>
              </a:spcAft>
              <a:defRPr sz="1200">
                <a:solidFill>
                  <a:srgbClr val="E0E7EB"/>
                </a:solidFill>
                <a:latin typeface="Aptos"/>
              </a:defRPr>
            </a:pPr>
            <a:r>
              <a:t>•  CARD + CARD_TRANSACTION — card workload</a:t>
            </a:r>
          </a:p>
          <a:p>
            <a:pPr>
              <a:spcAft>
                <a:spcPts val="700"/>
              </a:spcAft>
              <a:defRPr sz="1200">
                <a:solidFill>
                  <a:srgbClr val="E0E7EB"/>
                </a:solidFill>
                <a:latin typeface="Aptos"/>
              </a:defRPr>
            </a:pPr>
            <a:r>
              <a:t>•  MERCHANT — merchant dimension</a:t>
            </a:r>
          </a:p>
          <a:p>
            <a:pPr>
              <a:spcAft>
                <a:spcPts val="700"/>
              </a:spcAft>
              <a:defRPr sz="1200">
                <a:solidFill>
                  <a:srgbClr val="E0E7EB"/>
                </a:solidFill>
                <a:latin typeface="Aptos"/>
              </a:defRPr>
            </a:pPr>
            <a:r>
              <a:t>•  LOAN + LOAN_PAYMENT — loan workload</a:t>
            </a:r>
          </a:p>
          <a:p>
            <a:pPr>
              <a:spcAft>
                <a:spcPts val="700"/>
              </a:spcAft>
              <a:defRPr sz="1200">
                <a:solidFill>
                  <a:srgbClr val="E0E7EB"/>
                </a:solidFill>
                <a:latin typeface="Aptos"/>
              </a:defRPr>
            </a:pPr>
            <a:r>
              <a:t>•  EMPLOYEE — branch / organizational context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BEB1"/>
                </a:solidFill>
                <a:latin typeface="Aptos"/>
              </a:rPr>
              <a:t>05  |  RELATIONAL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7F9FA"/>
                </a:solidFill>
                <a:latin typeface="Aptos"/>
              </a:rPr>
              <a:t>From ER model to PostgreSQL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44168"/>
            <a:ext cx="105156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DADB8"/>
                </a:solidFill>
                <a:latin typeface="Aptos"/>
              </a:rPr>
              <a:t>Primary and foreign keys preserve identity and referential integrity across the banking domain.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9DADB8"/>
                </a:solidFill>
                <a:latin typeface="Aptos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374C5B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9DADB8"/>
                </a:solidFill>
                <a:latin typeface="Aptos"/>
              </a:rPr>
              <a:t>FinTwin  |  AI-Powered Banking Database Performance Simulator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2468880" cy="150876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2468880" cy="384048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93392"/>
            <a:ext cx="22402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7F9FA"/>
                </a:solidFill>
                <a:latin typeface="Aptos"/>
              </a:rPr>
              <a:t>CUSTOMER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468880"/>
            <a:ext cx="219456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9DADB8"/>
                </a:solidFill>
                <a:latin typeface="Aptos"/>
              </a:rPr>
              <a:t>customer_id PK
branch_id FK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920240"/>
            <a:ext cx="2468880" cy="150876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9000" y="1920240"/>
            <a:ext cx="2468880" cy="384048"/>
          </a:xfrm>
          <a:prstGeom prst="roundRect">
            <a:avLst>
              <a:gd name="adj" fmla="val 8000"/>
            </a:avLst>
          </a:prstGeom>
          <a:solidFill>
            <a:srgbClr val="289A91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8" y="1993392"/>
            <a:ext cx="22402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7F9FA"/>
                </a:solidFill>
                <a:latin typeface="Aptos"/>
              </a:rPr>
              <a:t>ACCOUNT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2468880"/>
            <a:ext cx="219456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9DADB8"/>
                </a:solidFill>
                <a:latin typeface="Aptos"/>
              </a:rPr>
              <a:t>account_id PK
customer_id FK
branch_id FK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920240"/>
            <a:ext cx="2468880" cy="150876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1920240"/>
            <a:ext cx="2468880" cy="384048"/>
          </a:xfrm>
          <a:prstGeom prst="roundRect">
            <a:avLst>
              <a:gd name="adj" fmla="val 8000"/>
            </a:avLst>
          </a:prstGeom>
          <a:solidFill>
            <a:srgbClr val="289A91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1993392"/>
            <a:ext cx="22402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7F9FA"/>
                </a:solidFill>
                <a:latin typeface="Aptos"/>
              </a:rPr>
              <a:t>TRANSACTION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2468880"/>
            <a:ext cx="219456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9DADB8"/>
                </a:solidFill>
                <a:latin typeface="Aptos"/>
              </a:rPr>
              <a:t>transaction_id PK
from_account_id FK
to_account_id FK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39" y="1920240"/>
            <a:ext cx="2468880" cy="150876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06839" y="1920240"/>
            <a:ext cx="2468880" cy="384048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7" y="1993392"/>
            <a:ext cx="22402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7F9FA"/>
                </a:solidFill>
                <a:latin typeface="Aptos"/>
              </a:rPr>
              <a:t>CARD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855" y="2468880"/>
            <a:ext cx="219456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9DADB8"/>
                </a:solidFill>
                <a:latin typeface="Aptos"/>
              </a:rPr>
              <a:t>card_id PK
account_id FK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886200"/>
            <a:ext cx="2468880" cy="150876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3886200"/>
            <a:ext cx="2468880" cy="384048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959352"/>
            <a:ext cx="22402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7F9FA"/>
                </a:solidFill>
                <a:latin typeface="Aptos"/>
              </a:rPr>
              <a:t>CARD_TRANSACTION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4434840"/>
            <a:ext cx="219456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9DADB8"/>
                </a:solidFill>
                <a:latin typeface="Aptos"/>
              </a:rPr>
              <a:t>card_transaction_id PK
card_id FK
merchant_id FK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9000" y="3886200"/>
            <a:ext cx="2468880" cy="150876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29000" y="3886200"/>
            <a:ext cx="2468880" cy="384048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38728" y="3959352"/>
            <a:ext cx="22402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7F9FA"/>
                </a:solidFill>
                <a:latin typeface="Aptos"/>
              </a:rPr>
              <a:t>LOAN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57016" y="4434840"/>
            <a:ext cx="219456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9DADB8"/>
                </a:solidFill>
                <a:latin typeface="Aptos"/>
              </a:rPr>
              <a:t>loan_id PK
customer_id FK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886200"/>
            <a:ext cx="2468880" cy="150876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17920" y="3886200"/>
            <a:ext cx="2468880" cy="384048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3959352"/>
            <a:ext cx="22402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7F9FA"/>
                </a:solidFill>
                <a:latin typeface="Aptos"/>
              </a:rPr>
              <a:t>LOAN_PAYMENT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45936" y="4434840"/>
            <a:ext cx="219456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9DADB8"/>
                </a:solidFill>
                <a:latin typeface="Aptos"/>
              </a:rPr>
              <a:t>payment_id PK
loan_id FK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06839" y="3886200"/>
            <a:ext cx="2468880" cy="150876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006839" y="3886200"/>
            <a:ext cx="2468880" cy="384048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16567" y="3959352"/>
            <a:ext cx="22402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7F9FA"/>
                </a:solidFill>
                <a:latin typeface="Aptos"/>
              </a:rPr>
              <a:t>MERCHANT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34855" y="4434840"/>
            <a:ext cx="219456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9DADB8"/>
                </a:solidFill>
                <a:latin typeface="Aptos"/>
              </a:rPr>
              <a:t>merchant_id PK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BEB1"/>
                </a:solidFill>
                <a:latin typeface="Aptos"/>
              </a:rPr>
              <a:t>Design rule: 1:N relationship → primary key of the 1-side becomes a foreign key on the N-side.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BEB1"/>
                </a:solidFill>
                <a:latin typeface="Aptos"/>
              </a:rPr>
              <a:t>06  |  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7F9FA"/>
                </a:solidFill>
                <a:latin typeface="Aptos"/>
              </a:rPr>
              <a:t>Why the schema is normalized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44168"/>
            <a:ext cx="105156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DADB8"/>
                </a:solidFill>
                <a:latin typeface="Aptos"/>
              </a:rPr>
              <a:t>Normalization reduces update anomalies and keeps each fact stored in the relation where it belongs.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9DADB8"/>
                </a:solidFill>
                <a:latin typeface="Aptos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374C5B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9DADB8"/>
                </a:solidFill>
                <a:latin typeface="Aptos"/>
              </a:rPr>
              <a:t>FinTwin  |  AI-Powered Banking Database Performance Simulator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57400"/>
            <a:ext cx="3246120" cy="182880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289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9144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289A91"/>
                </a:solidFill>
                <a:latin typeface="Aptos"/>
              </a:rPr>
              <a:t>1NF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52928"/>
            <a:ext cx="26517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F7F9FA"/>
                </a:solidFill>
                <a:latin typeface="Aptos"/>
              </a:rPr>
              <a:t>Atomic attributes
No repeating groups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79" y="2057400"/>
            <a:ext cx="3246120" cy="182880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5B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2331720"/>
            <a:ext cx="9144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5B8FB7"/>
                </a:solidFill>
                <a:latin typeface="Aptos"/>
              </a:rPr>
              <a:t>2NF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852928"/>
            <a:ext cx="26517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F7F9FA"/>
                </a:solidFill>
                <a:latin typeface="Aptos"/>
              </a:rPr>
              <a:t>1NF + no partial
dependencies on a composite 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19" y="2057400"/>
            <a:ext cx="3246120" cy="182880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5BBE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19" y="2331720"/>
            <a:ext cx="9144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5BBEB1"/>
                </a:solidFill>
                <a:latin typeface="Aptos"/>
              </a:rPr>
              <a:t>3NF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2852928"/>
            <a:ext cx="26517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F7F9FA"/>
                </a:solidFill>
                <a:latin typeface="Aptos"/>
              </a:rPr>
              <a:t>2NF + no transitive
dependencies among non-key attributes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343400"/>
            <a:ext cx="10652760" cy="123444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572000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9DADB8"/>
                </a:solidFill>
                <a:latin typeface="Aptos"/>
              </a:rPr>
              <a:t>Example dependency chain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526280"/>
            <a:ext cx="7863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F7F9FA"/>
                </a:solidFill>
                <a:latin typeface="Aptos"/>
              </a:rPr>
              <a:t>TRANSACTION → ACCOUNT → BRANCH → BRANCH_NAME / LOCATION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4983480"/>
            <a:ext cx="7863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DADB8"/>
                </a:solidFill>
                <a:latin typeface="Aptos"/>
              </a:rPr>
              <a:t>Therefore branch attributes belong in BRANCH rather than being duplicated in every transaction row.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BEB1"/>
                </a:solidFill>
                <a:latin typeface="Aptos"/>
              </a:rPr>
              <a:t>07  |  WORKLOAD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7F9FA"/>
                </a:solidFill>
                <a:latin typeface="Aptos"/>
              </a:rPr>
              <a:t>Controlled banking workload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44168"/>
            <a:ext cx="105156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DADB8"/>
                </a:solidFill>
                <a:latin typeface="Aptos"/>
              </a:rPr>
              <a:t>The generator creates repeatable experiments where workload parameters can be changed independently.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9DADB8"/>
                </a:solidFill>
                <a:latin typeface="Aptos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374C5B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9DADB8"/>
                </a:solidFill>
                <a:latin typeface="Aptos"/>
              </a:rPr>
              <a:t>FinTwin  |  AI-Powered Banking Database Performance Simulator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10835640" cy="621792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39112"/>
            <a:ext cx="1417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7F9FA"/>
                </a:solidFill>
                <a:latin typeface="Aptos"/>
              </a:rPr>
              <a:t>Normal 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039112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DADB8"/>
                </a:solidFill>
                <a:latin typeface="Aptos"/>
              </a:rPr>
              <a:t>Balanced account activity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46920" y="2029967"/>
            <a:ext cx="1417320" cy="310896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289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2084831"/>
            <a:ext cx="12710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289A91"/>
                </a:solidFill>
                <a:latin typeface="Aptos"/>
              </a:rPr>
              <a:t>Baseline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660903"/>
            <a:ext cx="10835640" cy="621792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825496"/>
            <a:ext cx="1417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7F9FA"/>
                </a:solidFill>
                <a:latin typeface="Aptos"/>
              </a:rPr>
              <a:t>Salary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825496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DADB8"/>
                </a:solidFill>
                <a:latin typeface="Aptos"/>
              </a:rPr>
              <a:t>Deposit + account activity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920" y="2816351"/>
            <a:ext cx="1417320" cy="310896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DDA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20072" y="2871215"/>
            <a:ext cx="12710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DDAB4F"/>
                </a:solidFill>
                <a:latin typeface="Aptos"/>
              </a:rPr>
              <a:t>High writes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447287"/>
            <a:ext cx="10835640" cy="621792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611879"/>
            <a:ext cx="1417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7F9FA"/>
                </a:solidFill>
                <a:latin typeface="Aptos"/>
              </a:rPr>
              <a:t>Month-end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3611879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DADB8"/>
                </a:solidFill>
                <a:latin typeface="Aptos"/>
              </a:rPr>
              <a:t>Loan payments + account queries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46920" y="3602735"/>
            <a:ext cx="1417320" cy="310896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DDA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20072" y="3657599"/>
            <a:ext cx="12710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DDAB4F"/>
                </a:solidFill>
                <a:latin typeface="Aptos"/>
              </a:rPr>
              <a:t>Batch pressure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233672"/>
            <a:ext cx="10835640" cy="621792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398264"/>
            <a:ext cx="1417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7F9FA"/>
                </a:solidFill>
                <a:latin typeface="Aptos"/>
              </a:rPr>
              <a:t>Card spike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4398264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DADB8"/>
                </a:solidFill>
                <a:latin typeface="Aptos"/>
              </a:rPr>
              <a:t>Card / merchant transactions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46920" y="4389120"/>
            <a:ext cx="1417320" cy="310896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DDA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20072" y="4443983"/>
            <a:ext cx="12710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DDAB4F"/>
                </a:solidFill>
                <a:latin typeface="Aptos"/>
              </a:rPr>
              <a:t>High concurrency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020056"/>
            <a:ext cx="10835640" cy="621792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5184648"/>
            <a:ext cx="1417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7F9FA"/>
                </a:solidFill>
                <a:latin typeface="Aptos"/>
              </a:rPr>
              <a:t>Traffic surge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5184648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DADB8"/>
                </a:solidFill>
                <a:latin typeface="Aptos"/>
              </a:rPr>
              <a:t>Same mix at higher TPS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46920" y="5175504"/>
            <a:ext cx="1417320" cy="310896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DDA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20072" y="5230368"/>
            <a:ext cx="12710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DDAB4F"/>
                </a:solidFill>
                <a:latin typeface="Aptos"/>
              </a:rPr>
              <a:t>Capacity pressure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989320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BEB1"/>
                </a:solidFill>
                <a:latin typeface="Aptos"/>
              </a:rPr>
              <a:t>Experimental controls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5971032"/>
            <a:ext cx="79552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7F9FA"/>
                </a:solidFill>
                <a:latin typeface="Aptos"/>
              </a:rPr>
              <a:t>concurrency  •  target TPS  •  duration  •  operation mix  •  scenario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BEB1"/>
                </a:solidFill>
                <a:latin typeface="Aptos"/>
              </a:rPr>
              <a:t>08  |  TELEMETRY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7F9FA"/>
                </a:solidFill>
                <a:latin typeface="Aptos"/>
              </a:rPr>
              <a:t>Performance telemetry: measure the database, not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44168"/>
            <a:ext cx="105156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DADB8"/>
                </a:solidFill>
                <a:latin typeface="Aptos"/>
              </a:rPr>
              <a:t>Every experiment links workload configuration to observations collected from the real PostgreSQL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9DADB8"/>
                </a:solidFill>
                <a:latin typeface="Aptos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374C5B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9DADB8"/>
                </a:solidFill>
                <a:latin typeface="Aptos"/>
              </a:rPr>
              <a:t>FinTwin  |  AI-Powered Banking Database Performance Simulator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1965960" cy="233172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1965960" cy="73152"/>
          </a:xfrm>
          <a:prstGeom prst="rect">
            <a:avLst/>
          </a:prstGeom>
          <a:solidFill>
            <a:srgbClr val="289A91"/>
          </a:solidFill>
          <a:ln w="10160">
            <a:solidFill>
              <a:srgbClr val="289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2359152"/>
            <a:ext cx="1600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89A91"/>
                </a:solidFill>
                <a:latin typeface="Aptos"/>
              </a:rPr>
              <a:t>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788920"/>
            <a:ext cx="1627632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7F9FA"/>
                </a:solidFill>
                <a:latin typeface="Aptos"/>
              </a:rPr>
              <a:t>Average / P50 / P95 / P99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3566160"/>
            <a:ext cx="157276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9DADB8"/>
                </a:solidFill>
                <a:latin typeface="Aptos"/>
              </a:rPr>
              <a:t>End-user responsiveness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2057400"/>
            <a:ext cx="1965960" cy="233172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80360" y="2057400"/>
            <a:ext cx="1965960" cy="73152"/>
          </a:xfrm>
          <a:prstGeom prst="rect">
            <a:avLst/>
          </a:prstGeom>
          <a:solidFill>
            <a:srgbClr val="5B8FB7"/>
          </a:solidFill>
          <a:ln w="10160">
            <a:solidFill>
              <a:srgbClr val="5B8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2359152"/>
            <a:ext cx="1600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8FB7"/>
                </a:solidFill>
                <a:latin typeface="Aptos"/>
              </a:rPr>
              <a:t>THROUGHPUT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4952" y="2788920"/>
            <a:ext cx="1627632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7F9FA"/>
                </a:solidFill>
                <a:latin typeface="Aptos"/>
              </a:rPr>
              <a:t>Actual TPS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4952" y="3566160"/>
            <a:ext cx="157276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9DADB8"/>
                </a:solidFill>
                <a:latin typeface="Aptos"/>
              </a:rPr>
              <a:t>Completed work per second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2057400"/>
            <a:ext cx="1965960" cy="233172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0640" y="2057400"/>
            <a:ext cx="1965960" cy="73152"/>
          </a:xfrm>
          <a:prstGeom prst="rect">
            <a:avLst/>
          </a:prstGeom>
          <a:solidFill>
            <a:srgbClr val="DDAB4F"/>
          </a:solidFill>
          <a:ln w="10160">
            <a:solidFill>
              <a:srgbClr val="DDA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85232" y="2359152"/>
            <a:ext cx="1600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DDAB4F"/>
                </a:solidFill>
                <a:latin typeface="Aptos"/>
              </a:rPr>
              <a:t>CPU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5232" y="2788920"/>
            <a:ext cx="1627632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7F9FA"/>
                </a:solidFill>
                <a:latin typeface="Aptos"/>
              </a:rPr>
              <a:t>System / process utilisation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5232" y="3566160"/>
            <a:ext cx="157276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9DADB8"/>
                </a:solidFill>
                <a:latin typeface="Aptos"/>
              </a:rPr>
              <a:t>Resource pressure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60920" y="2057400"/>
            <a:ext cx="1965960" cy="233172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60920" y="2057400"/>
            <a:ext cx="1965960" cy="73152"/>
          </a:xfrm>
          <a:prstGeom prst="rect">
            <a:avLst/>
          </a:prstGeom>
          <a:solidFill>
            <a:srgbClr val="CA6066"/>
          </a:solidFill>
          <a:ln w="10160">
            <a:solidFill>
              <a:srgbClr val="CA6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25512" y="2359152"/>
            <a:ext cx="1600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CA6066"/>
                </a:solidFill>
                <a:latin typeface="Aptos"/>
              </a:rPr>
              <a:t>LOCKS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5512" y="2788920"/>
            <a:ext cx="1627632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7F9FA"/>
                </a:solidFill>
                <a:latin typeface="Aptos"/>
              </a:rPr>
              <a:t>Lock / contention signals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5512" y="3566160"/>
            <a:ext cx="157276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9DADB8"/>
                </a:solidFill>
                <a:latin typeface="Aptos"/>
              </a:rPr>
              <a:t>Concurrency pressure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2057400"/>
            <a:ext cx="1965960" cy="233172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01200" y="2057400"/>
            <a:ext cx="1965960" cy="73152"/>
          </a:xfrm>
          <a:prstGeom prst="rect">
            <a:avLst/>
          </a:prstGeom>
          <a:solidFill>
            <a:srgbClr val="5BBEB1"/>
          </a:solidFill>
          <a:ln w="10160">
            <a:solidFill>
              <a:srgbClr val="5BBE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65792" y="2359152"/>
            <a:ext cx="1600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BEB1"/>
                </a:solidFill>
                <a:latin typeface="Aptos"/>
              </a:rPr>
              <a:t>DB STATE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65792" y="2788920"/>
            <a:ext cx="1627632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7F9FA"/>
                </a:solidFill>
                <a:latin typeface="Aptos"/>
              </a:rPr>
              <a:t>Connections, size, counters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65792" y="3566160"/>
            <a:ext cx="157276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9DADB8"/>
                </a:solidFill>
                <a:latin typeface="Aptos"/>
              </a:rPr>
              <a:t>Execution context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800600"/>
            <a:ext cx="10927080" cy="96012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047488"/>
            <a:ext cx="1234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BEB1"/>
                </a:solidFill>
                <a:latin typeface="Aptos"/>
              </a:rPr>
              <a:t>Key principle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83480"/>
            <a:ext cx="88239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7F9FA"/>
                </a:solidFill>
                <a:latin typeface="Aptos"/>
              </a:rPr>
              <a:t>Target TPS is an input. Actual TPS is measured. Prediction targets come from real PostgreSQL telemetry.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BEB1"/>
                </a:solidFill>
                <a:latin typeface="Aptos"/>
              </a:rPr>
              <a:t>09  | 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7F9FA"/>
                </a:solidFill>
                <a:latin typeface="Aptos"/>
              </a:rPr>
              <a:t>Learning workload →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44168"/>
            <a:ext cx="105156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DADB8"/>
                </a:solidFill>
                <a:latin typeface="Aptos"/>
              </a:rPr>
              <a:t>The ML layer predicts measurable performance outcomes for workload configurations it has learned from.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9DADB8"/>
                </a:solidFill>
                <a:latin typeface="Aptos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374C5B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9DADB8"/>
                </a:solidFill>
                <a:latin typeface="Aptos"/>
              </a:rPr>
              <a:t>FinTwin  |  AI-Powered Banking Database Performance Simulator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3657600" cy="388620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BBEB1"/>
                </a:solidFill>
                <a:latin typeface="Aptos"/>
              </a:rPr>
              <a:t>INPUT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70048"/>
            <a:ext cx="2971800" cy="23317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0E7EB"/>
                </a:solidFill>
                <a:latin typeface="Aptos"/>
              </a:defRPr>
            </a:pPr>
            <a:r>
              <a:t>•  Scenario</a:t>
            </a:r>
          </a:p>
          <a:p>
            <a:pPr>
              <a:spcAft>
                <a:spcPts val="700"/>
              </a:spcAft>
              <a:defRPr sz="1400">
                <a:solidFill>
                  <a:srgbClr val="E0E7EB"/>
                </a:solidFill>
                <a:latin typeface="Aptos"/>
              </a:defRPr>
            </a:pPr>
            <a:r>
              <a:t>•  Concurrency</a:t>
            </a:r>
          </a:p>
          <a:p>
            <a:pPr>
              <a:spcAft>
                <a:spcPts val="700"/>
              </a:spcAft>
              <a:defRPr sz="1400">
                <a:solidFill>
                  <a:srgbClr val="E0E7EB"/>
                </a:solidFill>
                <a:latin typeface="Aptos"/>
              </a:defRPr>
            </a:pPr>
            <a:r>
              <a:t>•  Target TPS</a:t>
            </a:r>
          </a:p>
          <a:p>
            <a:pPr>
              <a:spcAft>
                <a:spcPts val="700"/>
              </a:spcAft>
              <a:defRPr sz="1400">
                <a:solidFill>
                  <a:srgbClr val="E0E7EB"/>
                </a:solidFill>
                <a:latin typeface="Aptos"/>
              </a:defRPr>
            </a:pPr>
            <a:r>
              <a:t>•  Duration</a:t>
            </a:r>
          </a:p>
          <a:p>
            <a:pPr>
              <a:spcAft>
                <a:spcPts val="700"/>
              </a:spcAft>
              <a:defRPr sz="1400">
                <a:solidFill>
                  <a:srgbClr val="E0E7EB"/>
                </a:solidFill>
                <a:latin typeface="Aptos"/>
              </a:defRPr>
            </a:pPr>
            <a:r>
              <a:t>•  Requested operation mix</a:t>
            </a:r>
          </a:p>
          <a:p>
            <a:pPr>
              <a:spcAft>
                <a:spcPts val="700"/>
              </a:spcAft>
              <a:defRPr sz="1400">
                <a:solidFill>
                  <a:srgbClr val="E0E7EB"/>
                </a:solidFill>
                <a:latin typeface="Aptos"/>
              </a:defRPr>
            </a:pPr>
            <a:r>
              <a:t>•  Optional pre-execution DB 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331720"/>
            <a:ext cx="2971800" cy="297180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5BBE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2633472"/>
            <a:ext cx="2514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5BBEB1"/>
                </a:solidFill>
                <a:latin typeface="Aptos"/>
              </a:rPr>
              <a:t>REGRESSION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3154680"/>
            <a:ext cx="2148840" cy="1600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7F9FA"/>
                </a:solidFill>
                <a:latin typeface="Aptos"/>
              </a:rPr>
              <a:t>Preprocessing
↓
Linear baseline
↓
Tree-based models
↓
Holdout evaluation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920240"/>
            <a:ext cx="3657600" cy="388620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2212848"/>
            <a:ext cx="2286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BBEB1"/>
                </a:solidFill>
                <a:latin typeface="Aptos"/>
              </a:rPr>
              <a:t>PREDICTED OUTPUTS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670048"/>
            <a:ext cx="2926080" cy="21945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0E7EB"/>
                </a:solidFill>
                <a:latin typeface="Aptos"/>
              </a:defRPr>
            </a:pPr>
            <a:r>
              <a:t>•  Average latency</a:t>
            </a:r>
          </a:p>
          <a:p>
            <a:pPr>
              <a:spcAft>
                <a:spcPts val="700"/>
              </a:spcAft>
              <a:defRPr sz="1400">
                <a:solidFill>
                  <a:srgbClr val="E0E7EB"/>
                </a:solidFill>
                <a:latin typeface="Aptos"/>
              </a:defRPr>
            </a:pPr>
            <a:r>
              <a:t>•  P95 latency</a:t>
            </a:r>
          </a:p>
          <a:p>
            <a:pPr>
              <a:spcAft>
                <a:spcPts val="700"/>
              </a:spcAft>
              <a:defRPr sz="1400">
                <a:solidFill>
                  <a:srgbClr val="E0E7EB"/>
                </a:solidFill>
                <a:latin typeface="Aptos"/>
              </a:defRPr>
            </a:pPr>
            <a:r>
              <a:t>•  Actual throughput</a:t>
            </a:r>
          </a:p>
          <a:p>
            <a:pPr>
              <a:spcAft>
                <a:spcPts val="700"/>
              </a:spcAft>
              <a:defRPr sz="1400">
                <a:solidFill>
                  <a:srgbClr val="E0E7EB"/>
                </a:solidFill>
                <a:latin typeface="Aptos"/>
              </a:defRPr>
            </a:pPr>
            <a:r>
              <a:t>•  CPU utilisation</a:t>
            </a:r>
          </a:p>
          <a:p>
            <a:pPr>
              <a:spcAft>
                <a:spcPts val="700"/>
              </a:spcAft>
              <a:defRPr sz="1400">
                <a:solidFill>
                  <a:srgbClr val="E0E7EB"/>
                </a:solidFill>
                <a:latin typeface="Aptos"/>
              </a:defRPr>
            </a:pPr>
            <a:r>
              <a:t>•  Lock metric when coverage is sufficient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40680"/>
            <a:ext cx="10058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9DADB8"/>
                </a:solidFill>
                <a:latin typeface="Aptos"/>
              </a:rPr>
              <a:t>Validation uses unseen workload configurations to reduce leakage.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BEB1"/>
                </a:solidFill>
                <a:latin typeface="Aptos"/>
              </a:rPr>
              <a:t>10  |  WHAT-IF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7F9FA"/>
                </a:solidFill>
                <a:latin typeface="Aptos"/>
              </a:rPr>
              <a:t>Explore performance before executing the workload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44168"/>
            <a:ext cx="105156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DADB8"/>
                </a:solidFill>
                <a:latin typeface="Aptos"/>
              </a:rPr>
              <a:t>Predictions become useful when users can compare a baseline with a hypothetical 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9DADB8"/>
                </a:solidFill>
                <a:latin typeface="Aptos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374C5B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9DADB8"/>
                </a:solidFill>
                <a:latin typeface="Aptos"/>
              </a:rPr>
              <a:t>FinTwin  |  AI-Powered Banking Database Performance Simulator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5074920" cy="361188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48840"/>
            <a:ext cx="10972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9DADB8"/>
                </a:solidFill>
                <a:latin typeface="Aptos"/>
              </a:rPr>
              <a:t>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06040"/>
            <a:ext cx="12344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9DADB8"/>
                </a:solidFill>
                <a:latin typeface="Aptos"/>
              </a:rPr>
              <a:t>CONCURRENCY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62072"/>
            <a:ext cx="1234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F7F9FA"/>
                </a:solidFill>
                <a:latin typeface="Aptos"/>
              </a:rPr>
              <a:t>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3392424"/>
            <a:ext cx="1234440" cy="22860"/>
          </a:xfrm>
          <a:prstGeom prst="rect">
            <a:avLst/>
          </a:prstGeom>
          <a:solidFill>
            <a:srgbClr val="289A91"/>
          </a:solidFill>
          <a:ln w="10160">
            <a:solidFill>
              <a:srgbClr val="289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2606040"/>
            <a:ext cx="12344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9DADB8"/>
                </a:solidFill>
                <a:latin typeface="Aptos"/>
              </a:rPr>
              <a:t>TARGET TPS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862072"/>
            <a:ext cx="1234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F7F9FA"/>
                </a:solidFill>
                <a:latin typeface="Aptos"/>
              </a:rPr>
              <a:t>80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3392424"/>
            <a:ext cx="1234440" cy="22860"/>
          </a:xfrm>
          <a:prstGeom prst="rect">
            <a:avLst/>
          </a:prstGeom>
          <a:solidFill>
            <a:srgbClr val="289A91"/>
          </a:solidFill>
          <a:ln w="10160">
            <a:solidFill>
              <a:srgbClr val="289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2606040"/>
            <a:ext cx="12344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9DADB8"/>
                </a:solidFill>
                <a:latin typeface="Aptos"/>
              </a:rPr>
              <a:t>AVG 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2862072"/>
            <a:ext cx="1234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F7F9FA"/>
                </a:solidFill>
                <a:latin typeface="Aptos"/>
              </a:rPr>
              <a:t>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86200" y="3392424"/>
            <a:ext cx="1234440" cy="22860"/>
          </a:xfrm>
          <a:prstGeom prst="rect">
            <a:avLst/>
          </a:prstGeom>
          <a:solidFill>
            <a:srgbClr val="289A91"/>
          </a:solidFill>
          <a:ln w="10160">
            <a:solidFill>
              <a:srgbClr val="289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60520"/>
            <a:ext cx="41605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9DADB8"/>
                </a:solidFill>
                <a:latin typeface="Aptos"/>
              </a:rPr>
              <a:t>Measured / predicted depending on the comparison mode.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BEB1"/>
                </a:solidFill>
                <a:latin typeface="Aptos"/>
              </a:rPr>
              <a:t>10  |  WHAT-IF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7F9FA"/>
                </a:solidFill>
                <a:latin typeface="Aptos"/>
              </a:rPr>
              <a:t>Explore performance before executing the workload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44168"/>
            <a:ext cx="105156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DADB8"/>
                </a:solidFill>
                <a:latin typeface="Aptos"/>
              </a:rPr>
              <a:t>Predictions become useful when users can compare a baseline with a hypothetical 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9DADB8"/>
                </a:solidFill>
                <a:latin typeface="Aptos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374C5B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9DADB8"/>
                </a:solidFill>
                <a:latin typeface="Aptos"/>
              </a:rPr>
              <a:t>FinTwin  |  AI-Powered Banking Database Performance Simulator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5074920" cy="361188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48840"/>
            <a:ext cx="10972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9DADB8"/>
                </a:solidFill>
                <a:latin typeface="Aptos"/>
              </a:rPr>
              <a:t>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06040"/>
            <a:ext cx="12344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9DADB8"/>
                </a:solidFill>
                <a:latin typeface="Aptos"/>
              </a:rPr>
              <a:t>CONCURRENCY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62072"/>
            <a:ext cx="1234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F7F9FA"/>
                </a:solidFill>
                <a:latin typeface="Aptos"/>
              </a:rPr>
              <a:t>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3392424"/>
            <a:ext cx="1234440" cy="22860"/>
          </a:xfrm>
          <a:prstGeom prst="rect">
            <a:avLst/>
          </a:prstGeom>
          <a:solidFill>
            <a:srgbClr val="289A91"/>
          </a:solidFill>
          <a:ln w="10160">
            <a:solidFill>
              <a:srgbClr val="289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2606040"/>
            <a:ext cx="12344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9DADB8"/>
                </a:solidFill>
                <a:latin typeface="Aptos"/>
              </a:rPr>
              <a:t>TARGET TPS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862072"/>
            <a:ext cx="1234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F7F9FA"/>
                </a:solidFill>
                <a:latin typeface="Aptos"/>
              </a:rPr>
              <a:t>80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3392424"/>
            <a:ext cx="1234440" cy="22860"/>
          </a:xfrm>
          <a:prstGeom prst="rect">
            <a:avLst/>
          </a:prstGeom>
          <a:solidFill>
            <a:srgbClr val="289A91"/>
          </a:solidFill>
          <a:ln w="10160">
            <a:solidFill>
              <a:srgbClr val="289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2606040"/>
            <a:ext cx="12344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9DADB8"/>
                </a:solidFill>
                <a:latin typeface="Aptos"/>
              </a:rPr>
              <a:t>AVG 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2862072"/>
            <a:ext cx="1234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F7F9FA"/>
                </a:solidFill>
                <a:latin typeface="Aptos"/>
              </a:rPr>
              <a:t>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86200" y="3392424"/>
            <a:ext cx="1234440" cy="22860"/>
          </a:xfrm>
          <a:prstGeom prst="rect">
            <a:avLst/>
          </a:prstGeom>
          <a:solidFill>
            <a:srgbClr val="289A91"/>
          </a:solidFill>
          <a:ln w="10160">
            <a:solidFill>
              <a:srgbClr val="289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60520"/>
            <a:ext cx="41605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9DADB8"/>
                </a:solidFill>
                <a:latin typeface="Aptos"/>
              </a:rPr>
              <a:t>Measured / predicted depending on the comparison mode.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874519"/>
            <a:ext cx="5394960" cy="361188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5BBE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148840"/>
            <a:ext cx="1554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BBEB1"/>
                </a:solidFill>
                <a:latin typeface="Aptos"/>
              </a:rPr>
              <a:t>HYPOTHETICAL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606040"/>
            <a:ext cx="13258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9DADB8"/>
                </a:solidFill>
                <a:latin typeface="Aptos"/>
              </a:rPr>
              <a:t>CONCURRENCY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862072"/>
            <a:ext cx="13258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F7F9FA"/>
                </a:solidFill>
                <a:latin typeface="Aptos"/>
              </a:rPr>
              <a:t>40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392424"/>
            <a:ext cx="1325880" cy="22860"/>
          </a:xfrm>
          <a:prstGeom prst="rect">
            <a:avLst/>
          </a:prstGeom>
          <a:solidFill>
            <a:srgbClr val="5BBEB1"/>
          </a:solidFill>
          <a:ln w="10160">
            <a:solidFill>
              <a:srgbClr val="5BBE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2606040"/>
            <a:ext cx="13258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9DADB8"/>
                </a:solidFill>
                <a:latin typeface="Aptos"/>
              </a:rPr>
              <a:t>TARGET TPS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862072"/>
            <a:ext cx="13258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F7F9FA"/>
                </a:solidFill>
                <a:latin typeface="Aptos"/>
              </a:rPr>
              <a:t>120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79" y="3392424"/>
            <a:ext cx="1325880" cy="22860"/>
          </a:xfrm>
          <a:prstGeom prst="rect">
            <a:avLst/>
          </a:prstGeom>
          <a:solidFill>
            <a:srgbClr val="5BBEB1"/>
          </a:solidFill>
          <a:ln w="10160">
            <a:solidFill>
              <a:srgbClr val="5BBE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0" y="2606040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9DADB8"/>
                </a:solidFill>
                <a:latin typeface="Aptos"/>
              </a:rPr>
              <a:t>PRED. LATENCY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2862072"/>
            <a:ext cx="15087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F7F9FA"/>
                </a:solidFill>
                <a:latin typeface="Aptos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0" y="3392424"/>
            <a:ext cx="1508760" cy="22860"/>
          </a:xfrm>
          <a:prstGeom prst="rect">
            <a:avLst/>
          </a:prstGeom>
          <a:solidFill>
            <a:srgbClr val="5BBEB1"/>
          </a:solidFill>
          <a:ln w="10160">
            <a:solidFill>
              <a:srgbClr val="5BBE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160520"/>
            <a:ext cx="46177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7F9FA"/>
                </a:solidFill>
                <a:latin typeface="Aptos"/>
              </a:rPr>
              <a:t>Δ latency  •  Δ TPS  •  pressure classification  •  out-of-domain warning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852160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9DADB8"/>
                </a:solidFill>
                <a:latin typeface="Aptos"/>
              </a:rPr>
              <a:t>Sensitivity analysis can sweep one parameter at a time without running the database.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BEB1"/>
                </a:solidFill>
                <a:latin typeface="Aptos"/>
              </a:rPr>
              <a:t>11  | 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7F9FA"/>
                </a:solidFill>
                <a:latin typeface="Aptos"/>
              </a:rPr>
              <a:t>Evidence-based performance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44168"/>
            <a:ext cx="105156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DADB8"/>
                </a:solidFill>
                <a:latin typeface="Aptos"/>
              </a:rPr>
              <a:t>FinTwin recommends where to investigate; it does not autonomously modify a production database.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9DADB8"/>
                </a:solidFill>
                <a:latin typeface="Aptos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374C5B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9DADB8"/>
                </a:solidFill>
                <a:latin typeface="Aptos"/>
              </a:rPr>
              <a:t>FinTwin  |  AI-Powered Banking Database Performance Simulator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3383280" cy="123444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167128"/>
            <a:ext cx="1371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DDAB4F"/>
                </a:solidFill>
                <a:latin typeface="Aptos"/>
              </a:rPr>
              <a:t>CPU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2788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7F9FA"/>
                </a:solidFill>
                <a:latin typeface="Aptos"/>
              </a:rPr>
              <a:t>High utilisation / pressure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65960"/>
            <a:ext cx="3383280" cy="123444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167128"/>
            <a:ext cx="1371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CA6066"/>
                </a:solidFill>
                <a:latin typeface="Aptos"/>
              </a:rPr>
              <a:t>CONCURRENCY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532888"/>
            <a:ext cx="2788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7F9FA"/>
                </a:solidFill>
                <a:latin typeface="Aptos"/>
              </a:rPr>
              <a:t>Connections / contention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965960"/>
            <a:ext cx="3383280" cy="123444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2167128"/>
            <a:ext cx="1371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CA6066"/>
                </a:solidFill>
                <a:latin typeface="Aptos"/>
              </a:rPr>
              <a:t>LOCKING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532888"/>
            <a:ext cx="2788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7F9FA"/>
                </a:solidFill>
                <a:latin typeface="Aptos"/>
              </a:rPr>
              <a:t>Blocking or lock pressure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66160"/>
            <a:ext cx="3383280" cy="123444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767328"/>
            <a:ext cx="1371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89A91"/>
                </a:solidFill>
                <a:latin typeface="Aptos"/>
              </a:rPr>
              <a:t>LATENCY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133087"/>
            <a:ext cx="2788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7F9FA"/>
                </a:solidFill>
                <a:latin typeface="Aptos"/>
              </a:rPr>
              <a:t>Tail-latency degradation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566160"/>
            <a:ext cx="3383280" cy="123444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0288" y="3767328"/>
            <a:ext cx="1371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8FB7"/>
                </a:solidFill>
                <a:latin typeface="Aptos"/>
              </a:rPr>
              <a:t>QUERY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4133087"/>
            <a:ext cx="2788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7F9FA"/>
                </a:solidFill>
                <a:latin typeface="Aptos"/>
              </a:rPr>
              <a:t>Frequent / expensive patterns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3566160"/>
            <a:ext cx="3383280" cy="123444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608" y="3767328"/>
            <a:ext cx="1371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BEB1"/>
                </a:solidFill>
                <a:latin typeface="Aptos"/>
              </a:rPr>
              <a:t>INDEX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4133087"/>
            <a:ext cx="2788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7F9FA"/>
                </a:solidFill>
                <a:latin typeface="Aptos"/>
              </a:rPr>
              <a:t>Candidate indexes 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303520"/>
            <a:ext cx="10927080" cy="59436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486400"/>
            <a:ext cx="1554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BEB1"/>
                </a:solidFill>
                <a:latin typeface="Aptos"/>
              </a:rPr>
              <a:t>Recommendation format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5458968"/>
            <a:ext cx="8458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7F9FA"/>
                </a:solidFill>
                <a:latin typeface="Aptos"/>
              </a:rPr>
              <a:t>evidence → severity → action → expected benefit → coverage → requires validation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BEB1"/>
                </a:solidFill>
                <a:latin typeface="Aptos"/>
              </a:rPr>
              <a:t>12  | 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7F9FA"/>
                </a:solidFill>
                <a:latin typeface="Aptos"/>
              </a:rPr>
              <a:t>Predicted vs actual: the credibility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44168"/>
            <a:ext cx="105156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DADB8"/>
                </a:solidFill>
                <a:latin typeface="Aptos"/>
              </a:rPr>
              <a:t>A prediction is only useful if it is tested against a real execution under the same workload configuration.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9DADB8"/>
                </a:solidFill>
                <a:latin typeface="Aptos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374C5B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9DADB8"/>
                </a:solidFill>
                <a:latin typeface="Aptos"/>
              </a:rPr>
              <a:t>FinTwin  |  AI-Powered Banking Database Performance Simulator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3172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289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16002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7F9FA"/>
                </a:solidFill>
                <a:latin typeface="Aptos"/>
              </a:rPr>
              <a:t>Prediction
created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70632" y="2688336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9DADB8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233172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289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2615184"/>
            <a:ext cx="16002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7F9FA"/>
                </a:solidFill>
                <a:latin typeface="Aptos"/>
              </a:rPr>
              <a:t>Actual workload
executed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3792" y="2688336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9DADB8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233172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289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2615184"/>
            <a:ext cx="16002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7F9FA"/>
                </a:solidFill>
                <a:latin typeface="Aptos"/>
              </a:rPr>
              <a:t>Telemetry
captured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6952" y="2688336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9DADB8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33172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289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2615184"/>
            <a:ext cx="16002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7F9FA"/>
                </a:solidFill>
                <a:latin typeface="Aptos"/>
              </a:rPr>
              <a:t>Compare
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40111" y="2688336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9DADB8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0" y="2331720"/>
            <a:ext cx="1554480" cy="114300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DDA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49840" y="2615184"/>
            <a:ext cx="1371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7F9FA"/>
                </a:solidFill>
                <a:latin typeface="Aptos"/>
              </a:rPr>
              <a:t>Model
assessment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069080"/>
            <a:ext cx="10332720" cy="141732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343400"/>
            <a:ext cx="12801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9DADB8"/>
                </a:solidFill>
                <a:latin typeface="Aptos"/>
              </a:rPr>
              <a:t>METRIC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4343400"/>
            <a:ext cx="1463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9DADB8"/>
                </a:solidFill>
                <a:latin typeface="Aptos"/>
              </a:rPr>
              <a:t>PREDICTED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4343400"/>
            <a:ext cx="12801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9DADB8"/>
                </a:solidFill>
                <a:latin typeface="Aptos"/>
              </a:rPr>
              <a:t>ACTUAL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4343400"/>
            <a:ext cx="11887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9DADB8"/>
                </a:solidFill>
                <a:latin typeface="Aptos"/>
              </a:rPr>
              <a:t>ERROR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709160"/>
            <a:ext cx="7680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7F9FA"/>
                </a:solidFill>
                <a:latin typeface="Aptos"/>
              </a:rPr>
              <a:t>Avg latency  •  P95  •  TPS  •  CPU  •  locks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669280"/>
            <a:ext cx="8778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BEB1"/>
                </a:solidFill>
                <a:latin typeface="Aptos"/>
              </a:rPr>
              <a:t>MAE  |  RMSE  |  R²  |  percentage error where appropriate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BEB1"/>
                </a:solidFill>
                <a:latin typeface="Aptos"/>
              </a:rPr>
              <a:t>13  |  DBMS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7F9FA"/>
                </a:solidFill>
                <a:latin typeface="Aptos"/>
              </a:rPr>
              <a:t>What this project demonstrates from a DBMS 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44168"/>
            <a:ext cx="105156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DADB8"/>
                </a:solidFill>
                <a:latin typeface="Aptos"/>
              </a:rPr>
              <a:t>FinTwin is not just an ML wrapper — the database is the system being studied.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9DADB8"/>
                </a:solidFill>
                <a:latin typeface="Aptos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374C5B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9DADB8"/>
                </a:solidFill>
                <a:latin typeface="Aptos"/>
              </a:rPr>
              <a:t>FinTwin  |  AI-Powered Banking Database Performance Simulator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5BBEB1"/>
                </a:solidFill>
                <a:latin typeface="Aptos"/>
              </a:rPr>
              <a:t>ER modeling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874519"/>
            <a:ext cx="33375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F7F9FA"/>
                </a:solidFill>
                <a:latin typeface="Aptos"/>
              </a:rPr>
              <a:t>Entities, relationships, cardinalities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532887"/>
            <a:ext cx="5166360" cy="10972"/>
          </a:xfrm>
          <a:prstGeom prst="rect">
            <a:avLst/>
          </a:prstGeom>
          <a:solidFill>
            <a:srgbClr val="374C5B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874519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5BBEB1"/>
                </a:solidFill>
                <a:latin typeface="Aptos"/>
              </a:rPr>
              <a:t>Relational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874519"/>
            <a:ext cx="33375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F7F9FA"/>
                </a:solidFill>
                <a:latin typeface="Aptos"/>
              </a:rPr>
              <a:t>PK / FK / referential integrity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532887"/>
            <a:ext cx="5166360" cy="10972"/>
          </a:xfrm>
          <a:prstGeom prst="rect">
            <a:avLst/>
          </a:prstGeom>
          <a:solidFill>
            <a:srgbClr val="374C5B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926079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5BBEB1"/>
                </a:solidFill>
                <a:latin typeface="Aptos"/>
              </a:rPr>
              <a:t>Normalization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926079"/>
            <a:ext cx="33375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F7F9FA"/>
                </a:solidFill>
                <a:latin typeface="Aptos"/>
              </a:rPr>
              <a:t>FDs, 1NF → 2NF → 3NF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584448"/>
            <a:ext cx="5166360" cy="10972"/>
          </a:xfrm>
          <a:prstGeom prst="rect">
            <a:avLst/>
          </a:prstGeom>
          <a:solidFill>
            <a:srgbClr val="374C5B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926079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5BBEB1"/>
                </a:solidFill>
                <a:latin typeface="Aptos"/>
              </a:rPr>
              <a:t>SQL &amp; joins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926079"/>
            <a:ext cx="33375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F7F9FA"/>
                </a:solidFill>
                <a:latin typeface="Aptos"/>
              </a:rPr>
              <a:t>Transactional and analytical access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584448"/>
            <a:ext cx="5166360" cy="10972"/>
          </a:xfrm>
          <a:prstGeom prst="rect">
            <a:avLst/>
          </a:prstGeom>
          <a:solidFill>
            <a:srgbClr val="374C5B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977639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5BBEB1"/>
                </a:solidFill>
                <a:latin typeface="Aptos"/>
              </a:rPr>
              <a:t>Query 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3977639"/>
            <a:ext cx="33375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F7F9FA"/>
                </a:solidFill>
                <a:latin typeface="Aptos"/>
              </a:rPr>
              <a:t>Planner / optimizer / execution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636007"/>
            <a:ext cx="5166360" cy="10972"/>
          </a:xfrm>
          <a:prstGeom prst="rect">
            <a:avLst/>
          </a:prstGeom>
          <a:solidFill>
            <a:srgbClr val="374C5B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3977639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5BBEB1"/>
                </a:solidFill>
                <a:latin typeface="Aptos"/>
              </a:rPr>
              <a:t>Indexing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977639"/>
            <a:ext cx="33375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F7F9FA"/>
                </a:solidFill>
                <a:latin typeface="Aptos"/>
              </a:rPr>
              <a:t>Access paths and write overhead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636007"/>
            <a:ext cx="5166360" cy="10972"/>
          </a:xfrm>
          <a:prstGeom prst="rect">
            <a:avLst/>
          </a:prstGeom>
          <a:solidFill>
            <a:srgbClr val="374C5B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029200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5BBEB1"/>
                </a:solidFill>
                <a:latin typeface="Aptos"/>
              </a:rPr>
              <a:t>Transactions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5029200"/>
            <a:ext cx="33375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F7F9FA"/>
                </a:solidFill>
                <a:latin typeface="Aptos"/>
              </a:rPr>
              <a:t>ACID, commit / rollback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5687568"/>
            <a:ext cx="5166360" cy="10972"/>
          </a:xfrm>
          <a:prstGeom prst="rect">
            <a:avLst/>
          </a:prstGeom>
          <a:solidFill>
            <a:srgbClr val="374C5B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29200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5BBEB1"/>
                </a:solidFill>
                <a:latin typeface="Aptos"/>
              </a:rPr>
              <a:t>Concurrency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5029200"/>
            <a:ext cx="33375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F7F9FA"/>
                </a:solidFill>
                <a:latin typeface="Aptos"/>
              </a:rPr>
              <a:t>Locks, contention, throughput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5687568"/>
            <a:ext cx="5166360" cy="10972"/>
          </a:xfrm>
          <a:prstGeom prst="rect">
            <a:avLst/>
          </a:prstGeom>
          <a:solidFill>
            <a:srgbClr val="374C5B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BEB1"/>
                </a:solidFill>
                <a:latin typeface="Aptos"/>
              </a:rPr>
              <a:t>14  |  RESEARCH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7F9FA"/>
                </a:solidFill>
                <a:latin typeface="Aptos"/>
              </a:rPr>
              <a:t>Research question, contribution and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44168"/>
            <a:ext cx="105156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DADB8"/>
                </a:solidFill>
                <a:latin typeface="Aptos"/>
              </a:rPr>
              <a:t>Positioned as an undergraduate systems + ML research prototype, not a claim of replacing a production DBA.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9DADB8"/>
                </a:solidFill>
                <a:latin typeface="Aptos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374C5B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9DADB8"/>
                </a:solidFill>
                <a:latin typeface="Aptos"/>
              </a:rPr>
              <a:t>FinTwin  |  AI-Powered Banking Database Performance Simulator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6675120" cy="356616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5BBE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3108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BBEB1"/>
                </a:solidFill>
                <a:latin typeface="Aptos"/>
              </a:rPr>
              <a:t>PRIMARY RESEARCH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571500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F7F9FA"/>
                </a:solidFill>
                <a:latin typeface="Aptos"/>
              </a:rPr>
              <a:t>Can machine learning predict database performance under hypothetical banking workloads without executing those workloads first?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86200"/>
            <a:ext cx="1280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9DADB8"/>
                </a:solidFill>
                <a:latin typeface="Aptos"/>
              </a:rPr>
              <a:t>Contribution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5715000" cy="10058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0E7EB"/>
                </a:solidFill>
                <a:latin typeface="Aptos"/>
              </a:defRPr>
            </a:pPr>
            <a:r>
              <a:t>•  Finance-specific workload + PostgreSQL experiment framework</a:t>
            </a:r>
          </a:p>
          <a:p>
            <a:pPr>
              <a:spcAft>
                <a:spcPts val="700"/>
              </a:spcAft>
              <a:defRPr sz="1200">
                <a:solidFill>
                  <a:srgbClr val="E0E7EB"/>
                </a:solidFill>
                <a:latin typeface="Aptos"/>
              </a:defRPr>
            </a:pPr>
            <a:r>
              <a:t>•  Measured telemetry → predictive performance model</a:t>
            </a:r>
          </a:p>
          <a:p>
            <a:pPr>
              <a:spcAft>
                <a:spcPts val="700"/>
              </a:spcAft>
              <a:defRPr sz="1200">
                <a:solidFill>
                  <a:srgbClr val="E0E7EB"/>
                </a:solidFill>
                <a:latin typeface="Aptos"/>
              </a:defRPr>
            </a:pPr>
            <a:r>
              <a:t>•  What-if analysis + evidence-based recommendations</a:t>
            </a:r>
          </a:p>
          <a:p>
            <a:pPr>
              <a:spcAft>
                <a:spcPts val="700"/>
              </a:spcAft>
              <a:defRPr sz="1200">
                <a:solidFill>
                  <a:srgbClr val="E0E7EB"/>
                </a:solidFill>
                <a:latin typeface="Aptos"/>
              </a:defRPr>
            </a:pPr>
            <a:r>
              <a:t>•  Predicted-vs-actual validation loop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1874519"/>
            <a:ext cx="3931920" cy="356616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194560"/>
            <a:ext cx="2560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DDAB4F"/>
                </a:solidFill>
                <a:latin typeface="Aptos"/>
              </a:rPr>
              <a:t>HONEST BOUNDARIES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51760"/>
            <a:ext cx="3063240" cy="2057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0E7EB"/>
                </a:solidFill>
                <a:latin typeface="Aptos"/>
              </a:defRPr>
            </a:pPr>
            <a:r>
              <a:t>•  Synthetic banking data</a:t>
            </a:r>
          </a:p>
          <a:p>
            <a:pPr>
              <a:spcAft>
                <a:spcPts val="700"/>
              </a:spcAft>
              <a:defRPr sz="1300">
                <a:solidFill>
                  <a:srgbClr val="E0E7EB"/>
                </a:solidFill>
                <a:latin typeface="Aptos"/>
              </a:defRPr>
            </a:pPr>
            <a:r>
              <a:t>•  Scoped database-level digital twin</a:t>
            </a:r>
          </a:p>
          <a:p>
            <a:pPr>
              <a:spcAft>
                <a:spcPts val="700"/>
              </a:spcAft>
              <a:defRPr sz="1300">
                <a:solidFill>
                  <a:srgbClr val="E0E7EB"/>
                </a:solidFill>
                <a:latin typeface="Aptos"/>
              </a:defRPr>
            </a:pPr>
            <a:r>
              <a:t>•  No production banking infrastructure</a:t>
            </a:r>
          </a:p>
          <a:p>
            <a:pPr>
              <a:spcAft>
                <a:spcPts val="700"/>
              </a:spcAft>
              <a:defRPr sz="1300">
                <a:solidFill>
                  <a:srgbClr val="E0E7EB"/>
                </a:solidFill>
                <a:latin typeface="Aptos"/>
              </a:defRPr>
            </a:pPr>
            <a:r>
              <a:t>•  No autonomous DBA changes</a:t>
            </a:r>
          </a:p>
          <a:p>
            <a:pPr>
              <a:spcAft>
                <a:spcPts val="700"/>
              </a:spcAft>
              <a:defRPr sz="1300">
                <a:solidFill>
                  <a:srgbClr val="E0E7EB"/>
                </a:solidFill>
                <a:latin typeface="Aptos"/>
              </a:defRPr>
            </a:pPr>
            <a:r>
              <a:t>•  Predictions depend on training coverage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BEB1"/>
                </a:solidFill>
                <a:latin typeface="Aptos"/>
              </a:rPr>
              <a:t>15  | 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7F9FA"/>
                </a:solidFill>
                <a:latin typeface="Aptos"/>
              </a:rPr>
              <a:t>End-to-end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44168"/>
            <a:ext cx="105156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DADB8"/>
                </a:solidFill>
                <a:latin typeface="Aptos"/>
              </a:rPr>
              <a:t>A single demo should show the complete scientific loop — configuration → execution → measurement → prediction →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9DADB8"/>
                </a:solidFill>
                <a:latin typeface="Aptos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374C5B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9DADB8"/>
                </a:solidFill>
                <a:latin typeface="Aptos"/>
              </a:rPr>
              <a:t>FinTwin  |  AI-Powered Banking Database Performance Simulator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3383280" cy="150876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57400"/>
            <a:ext cx="3840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5BBEB1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057400"/>
            <a:ext cx="2331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7F9FA"/>
                </a:solidFill>
                <a:latin typeface="Aptos"/>
              </a:rPr>
              <a:t>Choose workload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532887"/>
            <a:ext cx="29260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9DADB8"/>
                </a:solidFill>
                <a:latin typeface="Aptos"/>
              </a:rPr>
              <a:t>Select scenario, concurrency, TPS and operation mix.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74519"/>
            <a:ext cx="3383280" cy="150876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057400"/>
            <a:ext cx="3840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5BBEB1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057400"/>
            <a:ext cx="2331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7F9FA"/>
                </a:solidFill>
                <a:latin typeface="Aptos"/>
              </a:rPr>
              <a:t>Run experiment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532887"/>
            <a:ext cx="29260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9DADB8"/>
                </a:solidFill>
                <a:latin typeface="Aptos"/>
              </a:rPr>
              <a:t>Execute against PostgreSQL and collect telemetry.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874519"/>
            <a:ext cx="3383280" cy="150876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2057400"/>
            <a:ext cx="3840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5BBEB1"/>
                </a:solidFill>
                <a:latin typeface="Aptos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57400"/>
            <a:ext cx="2331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7F9FA"/>
                </a:solidFill>
                <a:latin typeface="Aptos"/>
              </a:rPr>
              <a:t>Train / load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532887"/>
            <a:ext cx="29260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9DADB8"/>
                </a:solidFill>
                <a:latin typeface="Aptos"/>
              </a:rPr>
              <a:t>Use measured experiments as the learning set.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703320"/>
            <a:ext cx="3383280" cy="150876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3886200"/>
            <a:ext cx="3840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5BBEB1"/>
                </a:solidFill>
                <a:latin typeface="Aptos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886200"/>
            <a:ext cx="2331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7F9FA"/>
                </a:solidFill>
                <a:latin typeface="Aptos"/>
              </a:rPr>
              <a:t>Predict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361688"/>
            <a:ext cx="29260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9DADB8"/>
                </a:solidFill>
                <a:latin typeface="Aptos"/>
              </a:rPr>
              <a:t>Submit an unseen workload configuration.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703320"/>
            <a:ext cx="3383280" cy="150876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0288" y="3886200"/>
            <a:ext cx="3840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5BBEB1"/>
                </a:solidFill>
                <a:latin typeface="Aptos"/>
              </a:rPr>
              <a:t>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3886200"/>
            <a:ext cx="2331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7F9FA"/>
                </a:solidFill>
                <a:latin typeface="Aptos"/>
              </a:rPr>
              <a:t>What-if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4361688"/>
            <a:ext cx="29260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9DADB8"/>
                </a:solidFill>
                <a:latin typeface="Aptos"/>
              </a:rPr>
              <a:t>Change concurrency / TPS and compare predicted outcomes.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703320"/>
            <a:ext cx="3383280" cy="150876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3608" y="3886200"/>
            <a:ext cx="3840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5BBEB1"/>
                </a:solidFill>
                <a:latin typeface="Aptos"/>
              </a:rPr>
              <a:t>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60" y="3886200"/>
            <a:ext cx="2331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7F9FA"/>
                </a:solidFill>
                <a:latin typeface="Aptos"/>
              </a:rPr>
              <a:t>Validate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3608" y="4361688"/>
            <a:ext cx="29260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9DADB8"/>
                </a:solidFill>
                <a:latin typeface="Aptos"/>
              </a:rPr>
              <a:t>Execute the predicted configuration and compare with actual.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94360"/>
            <a:ext cx="73152" cy="5394960"/>
          </a:xfrm>
          <a:prstGeom prst="rect">
            <a:avLst/>
          </a:prstGeom>
          <a:solidFill>
            <a:srgbClr val="289A91"/>
          </a:solidFill>
          <a:ln w="10160">
            <a:solidFill>
              <a:srgbClr val="289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841248"/>
            <a:ext cx="1097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5BBEB1"/>
                </a:solidFill>
                <a:latin typeface="Aptos"/>
              </a:rPr>
              <a:t>FIN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234440"/>
            <a:ext cx="45720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800" b="1">
                <a:solidFill>
                  <a:srgbClr val="F7F9FA"/>
                </a:solidFill>
                <a:latin typeface="Aptos"/>
              </a:rPr>
              <a:t>FinTwin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965960"/>
            <a:ext cx="7955279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0">
                <a:solidFill>
                  <a:srgbClr val="9DADB8"/>
                </a:solidFill>
                <a:latin typeface="Aptos"/>
              </a:rPr>
              <a:t>A data-driven digital twin for understanding and predicting banking database performance.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" y="3063240"/>
            <a:ext cx="9966960" cy="1234440"/>
          </a:xfrm>
          <a:prstGeom prst="roundRect">
            <a:avLst>
              <a:gd name="adj" fmla="val 8000"/>
            </a:avLst>
          </a:prstGeom>
          <a:solidFill>
            <a:srgbClr val="122334"/>
          </a:solidFill>
          <a:ln w="10160">
            <a:solidFill>
              <a:srgbClr val="37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61872" y="3364992"/>
            <a:ext cx="1463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BBEB1"/>
                </a:solidFill>
                <a:latin typeface="Aptos"/>
              </a:rPr>
              <a:t>The central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273552"/>
            <a:ext cx="7635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7F9FA"/>
                </a:solidFill>
                <a:latin typeface="Aptos"/>
              </a:rPr>
              <a:t>Workload → PostgreSQL → Telemetry → ML → Prediction → What-If →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983480"/>
            <a:ext cx="20116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F7F9FA"/>
                </a:solidFill>
                <a:latin typeface="Aptos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5532120"/>
            <a:ext cx="3200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9DADB8"/>
                </a:solidFill>
                <a:latin typeface="Aptos"/>
              </a:rPr>
              <a:t>Questions /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5532120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0">
                <a:solidFill>
                  <a:srgbClr val="9DADB8"/>
                </a:solidFill>
                <a:latin typeface="Aptos"/>
              </a:rPr>
              <a:t>FinTwin  •  Project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